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will present my capstone project on credit card fraud detection using machine learning. The goal was to build a reproducible pipeline, compare multiple models, and recommend a final model for detecting fraudulent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was not just to train a model, but to build a repeatable workflow. That includes preprocessing, model training, shared evaluation, inference, and deployment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business issue is that fraud is expensive, but rare. A useful model must find fraud while controlling false positives. That is why I focused on precision, recall, F1-score and PR-AUC.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284,807 transactions and only 492 frauds. That equals about 0.17 percent fraud. The features are anonymized, so the focus is on performance and pipeline design rather than explaining individual feature meanings.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imbalance problem. The fraud class is so small that accuracy can be misleading. So I used recall, precision, F1-score, ROC-AUC, PR-AUC and confusion matrices.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preprocessing pipeline is important because it prevents data leakage and keeps comparisons fair. The scaler is fitted only on the training data, and all models use the same train/test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three models. Logistic Regression is the baseline, XGBoost is the main supervised model, and Autoencoder is an anomaly detection benchmark. All models report to the same metrics summary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the main results. Logistic Regression catches slightly more fraud, but precision is only about 6 percent. XGBoost has the best balance: strong recall, much higher precision, best F1-score and best PR-AUC.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final recommendation is XGBoost. Even though Logistic Regression had slightly higher recall, its precision was very low. XGBoost had the best overall balance and the strongest PR-AUC, making it the best choice for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operationalization, I created a one-sample inference script. The future deployment plan is to wrap the model in FastAPI, containerize it, and deploy it to Google Cloud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production, the model should be validated on newer data, threshold optimized based on business cost, and monitored for drift. Future work includes explainability and a deployed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txBody>
          <a:bodyPr/>
          <a:p/>
        </p:txBody>
      </p:sp>
      <p:sp>
        <p:nvSpPr>
          <p:cNvPr id="3" name="Shape 1"/>
          <p:cNvSpPr/>
          <p:nvPr/>
        </p:nvSpPr>
        <p:spPr>
          <a:xfrm>
            <a:off x="7909560" y="-182880"/>
            <a:ext cx="4572000" cy="4572000"/>
          </a:xfrm>
          <a:prstGeom prst="arc">
            <a:avLst/>
          </a:prstGeom>
          <a:noFill/>
          <a:ln w="38100">
            <a:solidFill>
              <a:srgbClr val="00A6A6">
                <a:alpha val="70000"/>
              </a:srgbClr>
            </a:solidFill>
            <a:prstDash val="solid"/>
          </a:ln>
        </p:spPr>
        <p:txBody>
          <a:bodyPr/>
          <a:p/>
        </p:txBody>
      </p:sp>
      <p:sp>
        <p:nvSpPr>
          <p:cNvPr id="4" name="Shape 2"/>
          <p:cNvSpPr/>
          <p:nvPr/>
        </p:nvSpPr>
        <p:spPr>
          <a:xfrm rot="1800000">
            <a:off x="8595360" y="1005840"/>
            <a:ext cx="3474720" cy="3474720"/>
          </a:xfrm>
          <a:prstGeom prst="arc">
            <a:avLst/>
          </a:prstGeom>
          <a:noFill/>
          <a:ln w="25400">
            <a:solidFill>
              <a:srgbClr val="F59E0B">
                <a:alpha val="80000"/>
              </a:srgbClr>
            </a:solidFill>
            <a:prstDash val="solid"/>
          </a:ln>
        </p:spPr>
        <p:txBody>
          <a:bodyPr/>
          <a:p/>
        </p:txBody>
      </p:sp>
      <p:sp>
        <p:nvSpPr>
          <p:cNvPr id="5" name="Text 3"/>
          <p:cNvSpPr/>
          <p:nvPr/>
        </p:nvSpPr>
        <p:spPr>
          <a:xfrm>
            <a:off x="685800" y="1371600"/>
            <a:ext cx="7406640" cy="1097280"/>
          </a:xfrm>
          <a:prstGeom prst="rect">
            <a:avLst/>
          </a:prstGeom>
          <a:noFill/>
          <a:ln/>
        </p:spPr>
        <p:txBody>
          <a:bodyPr wrap="square" lIns="254" tIns="254" rIns="254" bIns="254" rtlCol="0" anchor="ctr"/>
          <a:lstStyle/>
          <a:p>
            <a:pPr indent="0" marL="0">
              <a:buNone/>
            </a:pPr>
            <a:r>
              <a:rPr lang="en-US" sz="3300" b="1" dirty="0">
                <a:solidFill>
                  <a:srgbClr val="FFFFFF"/>
                </a:solidFill>
                <a:latin typeface="Arial" pitchFamily="34" charset="0"/>
                <a:ea typeface="Arial" pitchFamily="34" charset="-122"/>
                <a:cs typeface="Arial" pitchFamily="34" charset="-120"/>
              </a:rPr>
              <a:t>Credit Card Fraud Detection</a:t>
            </a:r>
            <a:endParaRPr lang="en-US" sz="3300" dirty="0"/>
          </a:p>
          <a:p>
            <a:pPr indent="0" marL="0">
              <a:buNone/>
            </a:pPr>
            <a:r>
              <a:rPr lang="en-US" sz="3300" b="1" dirty="0">
                <a:solidFill>
                  <a:srgbClr val="FFFFFF"/>
                </a:solidFill>
                <a:latin typeface="Arial" pitchFamily="34" charset="0"/>
                <a:ea typeface="Arial" pitchFamily="34" charset="-122"/>
                <a:cs typeface="Arial" pitchFamily="34" charset="-120"/>
              </a:rPr>
              <a:t>Using Machine Learning</a:t>
            </a:r>
            <a:endParaRPr lang="en-US" sz="3300" dirty="0"/>
          </a:p>
        </p:txBody>
      </p:sp>
      <p:sp>
        <p:nvSpPr>
          <p:cNvPr id="6" name="Text 4"/>
          <p:cNvSpPr/>
          <p:nvPr/>
        </p:nvSpPr>
        <p:spPr>
          <a:xfrm>
            <a:off x="713232" y="2697480"/>
            <a:ext cx="5669280" cy="320040"/>
          </a:xfrm>
          <a:prstGeom prst="rect">
            <a:avLst/>
          </a:prstGeom>
          <a:noFill/>
          <a:ln/>
        </p:spPr>
        <p:txBody>
          <a:bodyPr wrap="square" lIns="0" tIns="0" rIns="0" bIns="0" rtlCol="0" anchor="ctr"/>
          <a:lstStyle/>
          <a:p>
            <a:pPr indent="0" marL="0">
              <a:buNone/>
            </a:pPr>
            <a:r>
              <a:rPr lang="en-US" sz="1600" dirty="0">
                <a:solidFill>
                  <a:srgbClr val="D9E2EC"/>
                </a:solidFill>
                <a:latin typeface="Arial" pitchFamily="34" charset="0"/>
                <a:ea typeface="Arial" pitchFamily="34" charset="-122"/>
                <a:cs typeface="Arial" pitchFamily="34" charset="-120"/>
              </a:rPr>
              <a:t>Capstone Project Presentation</a:t>
            </a:r>
            <a:endParaRPr lang="en-US" sz="1600" dirty="0"/>
          </a:p>
        </p:txBody>
      </p:sp>
      <p:sp>
        <p:nvSpPr>
          <p:cNvPr id="7" name="Shape 5"/>
          <p:cNvSpPr/>
          <p:nvPr/>
        </p:nvSpPr>
        <p:spPr>
          <a:xfrm>
            <a:off x="713232" y="3154680"/>
            <a:ext cx="3657600" cy="0"/>
          </a:xfrm>
          <a:prstGeom prst="line">
            <a:avLst/>
          </a:prstGeom>
          <a:noFill/>
          <a:ln w="38100">
            <a:solidFill>
              <a:srgbClr val="00A6A6"/>
            </a:solidFill>
            <a:prstDash val="solid"/>
          </a:ln>
        </p:spPr>
        <p:txBody>
          <a:bodyPr/>
          <a:p/>
        </p:txBody>
      </p:sp>
      <p:sp>
        <p:nvSpPr>
          <p:cNvPr id="8" name="Text 6"/>
          <p:cNvSpPr/>
          <p:nvPr/>
        </p:nvSpPr>
        <p:spPr>
          <a:xfrm>
            <a:off x="713232" y="3429000"/>
            <a:ext cx="3657600" cy="256032"/>
          </a:xfrm>
          <a:prstGeom prst="rect">
            <a:avLst/>
          </a:prstGeom>
          <a:noFill/>
          <a:ln/>
        </p:spPr>
        <p:txBody>
          <a:bodyPr wrap="square" lIns="0" tIns="0" rIns="0" bIns="0" rtlCol="0" anchor="ctr"/>
          <a:lstStyle/>
          <a:p>
            <a:r>
              <a:t>Parviz Ali &amp; Maryam Shabani</a:t>
            </a:r>
          </a:p>
        </p:txBody>
      </p:sp>
      <p:sp>
        <p:nvSpPr>
          <p:cNvPr id="9" name="Text 7"/>
          <p:cNvSpPr/>
          <p:nvPr/>
        </p:nvSpPr>
        <p:spPr>
          <a:xfrm>
            <a:off x="713232" y="3776472"/>
            <a:ext cx="6035040" cy="256032"/>
          </a:xfrm>
          <a:prstGeom prst="rect">
            <a:avLst/>
          </a:prstGeom>
          <a:noFill/>
          <a:ln/>
        </p:spPr>
        <p:txBody>
          <a:bodyPr wrap="square" lIns="0" tIns="0" rIns="0" bIns="0" rtlCol="0" anchor="ctr"/>
          <a:lstStyle/>
          <a:p>
            <a:pPr indent="0" marL="0">
              <a:buNone/>
            </a:pPr>
            <a:r>
              <a:rPr lang="en-US" sz="1050" dirty="0">
                <a:solidFill>
                  <a:srgbClr val="D9E2EC"/>
                </a:solidFill>
                <a:latin typeface="Arial" pitchFamily="34" charset="0"/>
                <a:ea typeface="Arial" pitchFamily="34" charset="-122"/>
                <a:cs typeface="Arial" pitchFamily="34" charset="-120"/>
              </a:rPr>
              <a:t>Machine learning pipeline • model comparison • deployment plan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3"/>
          </a:solidFill>
          <a:ln w="12700">
            <a:solidFill>
              <a:srgbClr val="0B1F33"/>
            </a:solidFill>
            <a:prstDash val="solid"/>
          </a:ln>
        </p:spPr>
        <p:txBody>
          <a:bodyPr/>
          <a:p/>
        </p:txBody>
      </p:sp>
      <p:sp>
        <p:nvSpPr>
          <p:cNvPr id="3" name="Text 1"/>
          <p:cNvSpPr/>
          <p:nvPr/>
        </p:nvSpPr>
        <p:spPr>
          <a:xfrm>
            <a:off x="411480" y="109728"/>
            <a:ext cx="8961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Project Objective</a:t>
            </a:r>
            <a:endParaRPr lang="en-US" sz="1300" dirty="0"/>
          </a:p>
        </p:txBody>
      </p:sp>
      <p:sp>
        <p:nvSpPr>
          <p:cNvPr id="4" name="Text 2"/>
          <p:cNvSpPr/>
          <p:nvPr/>
        </p:nvSpPr>
        <p:spPr>
          <a:xfrm>
            <a:off x="9692640" y="109728"/>
            <a:ext cx="2057400" cy="274320"/>
          </a:xfrm>
          <a:prstGeom prst="rect">
            <a:avLst/>
          </a:prstGeom>
          <a:noFill/>
          <a:ln/>
        </p:spPr>
        <p:txBody>
          <a:bodyPr wrap="square" lIns="0" tIns="0" rIns="0" bIns="0" rtlCol="0" anchor="ctr"/>
          <a:lstStyle/>
          <a:p>
            <a:pPr algn="r" indent="0" marL="0">
              <a:buNone/>
            </a:pPr>
            <a:r>
              <a:rPr lang="en-US" sz="900" dirty="0">
                <a:solidFill>
                  <a:srgbClr val="D9E2EC"/>
                </a:solidFill>
                <a:latin typeface="Arial" pitchFamily="34" charset="0"/>
                <a:ea typeface="Arial" pitchFamily="34" charset="-122"/>
                <a:cs typeface="Arial" pitchFamily="34" charset="-120"/>
              </a:rPr>
              <a:t>Problem &amp; Goal</a:t>
            </a:r>
            <a:endParaRPr lang="en-US" sz="900" dirty="0"/>
          </a:p>
        </p:txBody>
      </p:sp>
      <p:sp>
        <p:nvSpPr>
          <p:cNvPr id="5" name="Text 3"/>
          <p:cNvSpPr/>
          <p:nvPr/>
        </p:nvSpPr>
        <p:spPr>
          <a:xfrm>
            <a:off x="594360" y="786384"/>
            <a:ext cx="10881360" cy="594360"/>
          </a:xfrm>
          <a:prstGeom prst="rect">
            <a:avLst/>
          </a:prstGeom>
          <a:noFill/>
          <a:ln/>
        </p:spPr>
        <p:txBody>
          <a:bodyPr wrap="square" lIns="254" tIns="254" rIns="254" bIns="254" rtlCol="0" anchor="ctr"/>
          <a:lstStyle/>
          <a:p>
            <a:pPr indent="0" marL="0">
              <a:buNone/>
            </a:pPr>
            <a:r>
              <a:rPr lang="en-US" sz="2800" b="1" dirty="0">
                <a:solidFill>
                  <a:srgbClr val="0B1F33"/>
                </a:solidFill>
                <a:latin typeface="Arial" pitchFamily="34" charset="0"/>
                <a:ea typeface="Arial" pitchFamily="34" charset="-122"/>
                <a:cs typeface="Arial" pitchFamily="34" charset="-120"/>
              </a:rPr>
              <a:t>Build a reproducible fraud detection pipeline</a:t>
            </a:r>
            <a:endParaRPr lang="en-US" sz="2800" dirty="0"/>
          </a:p>
        </p:txBody>
      </p:sp>
      <p:sp>
        <p:nvSpPr>
          <p:cNvPr id="6" name="Text 4"/>
          <p:cNvSpPr/>
          <p:nvPr/>
        </p:nvSpPr>
        <p:spPr>
          <a:xfrm>
            <a:off x="621792" y="1399032"/>
            <a:ext cx="10424160" cy="301752"/>
          </a:xfrm>
          <a:prstGeom prst="rect">
            <a:avLst/>
          </a:prstGeom>
          <a:noFill/>
          <a:ln/>
        </p:spPr>
        <p:txBody>
          <a:bodyPr wrap="square" lIns="0" tIns="0" rIns="0" bIns="0" rtlCol="0" anchor="ctr"/>
          <a:lstStyle/>
          <a:p>
            <a:pPr indent="0" marL="0">
              <a:buNone/>
            </a:pPr>
            <a:r>
              <a:rPr lang="en-US" sz="1250" dirty="0">
                <a:solidFill>
                  <a:srgbClr val="5B6770"/>
                </a:solidFill>
                <a:latin typeface="Arial" pitchFamily="34" charset="0"/>
                <a:ea typeface="Arial" pitchFamily="34" charset="-122"/>
                <a:cs typeface="Arial" pitchFamily="34" charset="-120"/>
              </a:rPr>
              <a:t>The project compares supervised and anomaly-detection approaches on the same official train/test split.</a:t>
            </a:r>
            <a:endParaRPr lang="en-US" sz="1250" dirty="0"/>
          </a:p>
        </p:txBody>
      </p:sp>
      <p:sp>
        <p:nvSpPr>
          <p:cNvPr id="7" name="Shape 5"/>
          <p:cNvSpPr/>
          <p:nvPr/>
        </p:nvSpPr>
        <p:spPr>
          <a:xfrm>
            <a:off x="685800" y="1874520"/>
            <a:ext cx="3383280" cy="1417320"/>
          </a:xfrm>
          <a:prstGeom prst="roundRect">
            <a:avLst>
              <a:gd name="adj" fmla="val 5161"/>
            </a:avLst>
          </a:prstGeom>
          <a:solidFill>
            <a:srgbClr val="FFFFFF"/>
          </a:solidFill>
          <a:ln w="12700">
            <a:solidFill>
              <a:srgbClr val="D9E2EC"/>
            </a:solidFill>
            <a:prstDash val="solid"/>
          </a:ln>
        </p:spPr>
        <p:txBody>
          <a:bodyPr/>
          <a:p/>
        </p:txBody>
      </p:sp>
      <p:sp>
        <p:nvSpPr>
          <p:cNvPr id="8" name="Shape 6"/>
          <p:cNvSpPr/>
          <p:nvPr/>
        </p:nvSpPr>
        <p:spPr>
          <a:xfrm>
            <a:off x="685800" y="1874520"/>
            <a:ext cx="73152" cy="1417320"/>
          </a:xfrm>
          <a:prstGeom prst="rect">
            <a:avLst/>
          </a:prstGeom>
          <a:solidFill>
            <a:srgbClr val="1F4E79"/>
          </a:solidFill>
          <a:ln w="12700">
            <a:solidFill>
              <a:srgbClr val="1F4E79"/>
            </a:solidFill>
            <a:prstDash val="solid"/>
          </a:ln>
        </p:spPr>
        <p:txBody>
          <a:bodyPr/>
          <a:p/>
        </p:txBody>
      </p:sp>
      <p:sp>
        <p:nvSpPr>
          <p:cNvPr id="9" name="Text 7"/>
          <p:cNvSpPr/>
          <p:nvPr/>
        </p:nvSpPr>
        <p:spPr>
          <a:xfrm>
            <a:off x="886968" y="2011680"/>
            <a:ext cx="30632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1. Analyze data</a:t>
            </a:r>
            <a:endParaRPr lang="en-US" sz="1250" dirty="0"/>
          </a:p>
        </p:txBody>
      </p:sp>
      <p:sp>
        <p:nvSpPr>
          <p:cNvPr id="10" name="Text 8"/>
          <p:cNvSpPr/>
          <p:nvPr/>
        </p:nvSpPr>
        <p:spPr>
          <a:xfrm>
            <a:off x="886968" y="2377440"/>
            <a:ext cx="3063240" cy="77724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Explore fraud rate, transaction amount distribution, and the class imbalance problem.</a:t>
            </a:r>
            <a:endParaRPr lang="en-US" sz="1050" dirty="0"/>
          </a:p>
        </p:txBody>
      </p:sp>
      <p:sp>
        <p:nvSpPr>
          <p:cNvPr id="11" name="Shape 9"/>
          <p:cNvSpPr/>
          <p:nvPr/>
        </p:nvSpPr>
        <p:spPr>
          <a:xfrm>
            <a:off x="4434840" y="1874520"/>
            <a:ext cx="3383280" cy="1417320"/>
          </a:xfrm>
          <a:prstGeom prst="roundRect">
            <a:avLst>
              <a:gd name="adj" fmla="val 5161"/>
            </a:avLst>
          </a:prstGeom>
          <a:solidFill>
            <a:srgbClr val="FFFFFF"/>
          </a:solidFill>
          <a:ln w="12700">
            <a:solidFill>
              <a:srgbClr val="D9E2EC"/>
            </a:solidFill>
            <a:prstDash val="solid"/>
          </a:ln>
        </p:spPr>
        <p:txBody>
          <a:bodyPr/>
          <a:p/>
        </p:txBody>
      </p:sp>
      <p:sp>
        <p:nvSpPr>
          <p:cNvPr id="12" name="Shape 10"/>
          <p:cNvSpPr/>
          <p:nvPr/>
        </p:nvSpPr>
        <p:spPr>
          <a:xfrm>
            <a:off x="4434840" y="1874520"/>
            <a:ext cx="73152" cy="1417320"/>
          </a:xfrm>
          <a:prstGeom prst="rect">
            <a:avLst/>
          </a:prstGeom>
          <a:solidFill>
            <a:srgbClr val="00A6A6"/>
          </a:solidFill>
          <a:ln w="12700">
            <a:solidFill>
              <a:srgbClr val="00A6A6"/>
            </a:solidFill>
            <a:prstDash val="solid"/>
          </a:ln>
        </p:spPr>
        <p:txBody>
          <a:bodyPr/>
          <a:p/>
        </p:txBody>
      </p:sp>
      <p:sp>
        <p:nvSpPr>
          <p:cNvPr id="13" name="Text 11"/>
          <p:cNvSpPr/>
          <p:nvPr/>
        </p:nvSpPr>
        <p:spPr>
          <a:xfrm>
            <a:off x="4636008" y="2011680"/>
            <a:ext cx="30632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2. Build models</a:t>
            </a:r>
            <a:endParaRPr lang="en-US" sz="1250" dirty="0"/>
          </a:p>
        </p:txBody>
      </p:sp>
      <p:sp>
        <p:nvSpPr>
          <p:cNvPr id="14" name="Text 12"/>
          <p:cNvSpPr/>
          <p:nvPr/>
        </p:nvSpPr>
        <p:spPr>
          <a:xfrm>
            <a:off x="4636008" y="2377440"/>
            <a:ext cx="3063240" cy="77724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Train Logistic Regression, XGBoost, and Autoencoder models using standardized preprocessing.</a:t>
            </a:r>
            <a:endParaRPr lang="en-US" sz="1050" dirty="0"/>
          </a:p>
        </p:txBody>
      </p:sp>
      <p:sp>
        <p:nvSpPr>
          <p:cNvPr id="15" name="Shape 13"/>
          <p:cNvSpPr/>
          <p:nvPr/>
        </p:nvSpPr>
        <p:spPr>
          <a:xfrm>
            <a:off x="8183880" y="1874520"/>
            <a:ext cx="3383280" cy="1417320"/>
          </a:xfrm>
          <a:prstGeom prst="roundRect">
            <a:avLst>
              <a:gd name="adj" fmla="val 5161"/>
            </a:avLst>
          </a:prstGeom>
          <a:solidFill>
            <a:srgbClr val="FFFFFF"/>
          </a:solidFill>
          <a:ln w="12700">
            <a:solidFill>
              <a:srgbClr val="D9E2EC"/>
            </a:solidFill>
            <a:prstDash val="solid"/>
          </a:ln>
        </p:spPr>
        <p:txBody>
          <a:bodyPr/>
          <a:p/>
        </p:txBody>
      </p:sp>
      <p:sp>
        <p:nvSpPr>
          <p:cNvPr id="16" name="Shape 14"/>
          <p:cNvSpPr/>
          <p:nvPr/>
        </p:nvSpPr>
        <p:spPr>
          <a:xfrm>
            <a:off x="8183880" y="1874520"/>
            <a:ext cx="73152" cy="1417320"/>
          </a:xfrm>
          <a:prstGeom prst="rect">
            <a:avLst/>
          </a:prstGeom>
          <a:solidFill>
            <a:srgbClr val="F59E0B"/>
          </a:solidFill>
          <a:ln w="12700">
            <a:solidFill>
              <a:srgbClr val="F59E0B"/>
            </a:solidFill>
            <a:prstDash val="solid"/>
          </a:ln>
        </p:spPr>
        <p:txBody>
          <a:bodyPr/>
          <a:p/>
        </p:txBody>
      </p:sp>
      <p:sp>
        <p:nvSpPr>
          <p:cNvPr id="17" name="Text 15"/>
          <p:cNvSpPr/>
          <p:nvPr/>
        </p:nvSpPr>
        <p:spPr>
          <a:xfrm>
            <a:off x="8385048" y="2011680"/>
            <a:ext cx="30632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3. Recommend model</a:t>
            </a:r>
            <a:endParaRPr lang="en-US" sz="1250" dirty="0"/>
          </a:p>
        </p:txBody>
      </p:sp>
      <p:sp>
        <p:nvSpPr>
          <p:cNvPr id="18" name="Text 16"/>
          <p:cNvSpPr/>
          <p:nvPr/>
        </p:nvSpPr>
        <p:spPr>
          <a:xfrm>
            <a:off x="8385048" y="2377440"/>
            <a:ext cx="3063240" cy="77724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Compare precision, recall, F1-score, ROC-AUC, and PR-AUC to select a final model.</a:t>
            </a:r>
            <a:endParaRPr lang="en-US" sz="1050" dirty="0"/>
          </a:p>
        </p:txBody>
      </p:sp>
      <p:sp>
        <p:nvSpPr>
          <p:cNvPr id="19" name="Shape 17"/>
          <p:cNvSpPr/>
          <p:nvPr/>
        </p:nvSpPr>
        <p:spPr>
          <a:xfrm>
            <a:off x="1920240" y="4160520"/>
            <a:ext cx="8321040" cy="1097280"/>
          </a:xfrm>
          <a:prstGeom prst="roundRect">
            <a:avLst>
              <a:gd name="adj" fmla="val 6667"/>
            </a:avLst>
          </a:prstGeom>
          <a:solidFill>
            <a:srgbClr val="F4F6F8"/>
          </a:solidFill>
          <a:ln w="12700">
            <a:solidFill>
              <a:srgbClr val="D9E2EC"/>
            </a:solidFill>
            <a:prstDash val="solid"/>
          </a:ln>
        </p:spPr>
        <p:txBody>
          <a:bodyPr/>
          <a:p/>
        </p:txBody>
      </p:sp>
      <p:sp>
        <p:nvSpPr>
          <p:cNvPr id="20" name="Text 18"/>
          <p:cNvSpPr/>
          <p:nvPr/>
        </p:nvSpPr>
        <p:spPr>
          <a:xfrm>
            <a:off x="2148840" y="4370832"/>
            <a:ext cx="1828800" cy="228600"/>
          </a:xfrm>
          <a:prstGeom prst="rect">
            <a:avLst/>
          </a:prstGeom>
          <a:noFill/>
          <a:ln/>
        </p:spPr>
        <p:txBody>
          <a:bodyPr wrap="square" lIns="0" tIns="0" rIns="0" bIns="0" rtlCol="0" anchor="ctr"/>
          <a:lstStyle/>
          <a:p>
            <a:pPr indent="0" marL="0">
              <a:buNone/>
            </a:pPr>
            <a:r>
              <a:rPr lang="en-US" sz="1100" b="1" dirty="0">
                <a:solidFill>
                  <a:srgbClr val="0B1F33"/>
                </a:solidFill>
                <a:latin typeface="Arial" pitchFamily="34" charset="0"/>
                <a:ea typeface="Arial" pitchFamily="34" charset="-122"/>
                <a:cs typeface="Arial" pitchFamily="34" charset="-120"/>
              </a:rPr>
              <a:t>Final deliverable</a:t>
            </a:r>
            <a:endParaRPr lang="en-US" sz="1100" dirty="0"/>
          </a:p>
        </p:txBody>
      </p:sp>
      <p:sp>
        <p:nvSpPr>
          <p:cNvPr id="21" name="Text 19"/>
          <p:cNvSpPr/>
          <p:nvPr/>
        </p:nvSpPr>
        <p:spPr>
          <a:xfrm>
            <a:off x="3657600" y="4370832"/>
            <a:ext cx="6217920" cy="411480"/>
          </a:xfrm>
          <a:prstGeom prst="rect">
            <a:avLst/>
          </a:prstGeom>
          <a:noFill/>
          <a:ln/>
        </p:spPr>
        <p:txBody>
          <a:bodyPr wrap="square" lIns="0" tIns="0" rIns="0" bIns="0" rtlCol="0" anchor="ctr"/>
          <a:lstStyle/>
          <a:p>
            <a:pPr indent="0" marL="0">
              <a:buNone/>
            </a:pPr>
            <a:r>
              <a:rPr lang="en-US" sz="1200" dirty="0">
                <a:solidFill>
                  <a:srgbClr val="111827"/>
                </a:solidFill>
                <a:latin typeface="Arial" pitchFamily="34" charset="0"/>
                <a:ea typeface="Arial" pitchFamily="34" charset="-122"/>
                <a:cs typeface="Arial" pitchFamily="34" charset="-120"/>
              </a:rPr>
              <a:t>A documented ML workflow with training scripts, standardized reporting, one-sample inference, and a Cloud Run deployment plan.</a:t>
            </a:r>
            <a:endParaRPr lang="en-US" sz="1200" dirty="0"/>
          </a:p>
        </p:txBody>
      </p:sp>
      <p:sp>
        <p:nvSpPr>
          <p:cNvPr id="22" name="Text 20"/>
          <p:cNvSpPr/>
          <p:nvPr/>
        </p:nvSpPr>
        <p:spPr>
          <a:xfrm>
            <a:off x="411480" y="6519672"/>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Credit Card Fraud Detection Capstone | Parviz Ali</a:t>
            </a:r>
            <a:endParaRPr lang="en-US" sz="750" dirty="0"/>
          </a:p>
        </p:txBody>
      </p:sp>
      <p:sp>
        <p:nvSpPr>
          <p:cNvPr id="23" name="Text 21"/>
          <p:cNvSpPr/>
          <p:nvPr/>
        </p:nvSpPr>
        <p:spPr>
          <a:xfrm>
            <a:off x="11475720" y="6492240"/>
            <a:ext cx="320040" cy="164592"/>
          </a:xfrm>
          <a:prstGeom prst="rect">
            <a:avLst/>
          </a:prstGeom>
          <a:noFill/>
          <a:ln/>
        </p:spPr>
        <p:txBody>
          <a:bodyPr wrap="square" lIns="0" tIns="0" rIns="0" bIns="0" rtlCol="0" anchor="ctr"/>
          <a:lstStyle/>
          <a:p>
            <a:pPr algn="r" indent="0" marL="0">
              <a:buNone/>
            </a:pPr>
            <a:r>
              <a:rPr lang="en-US" sz="750" dirty="0">
                <a:solidFill>
                  <a:srgbClr val="6B7280"/>
                </a:solidFill>
                <a:latin typeface="Arial" pitchFamily="34" charset="0"/>
                <a:ea typeface="Arial" pitchFamily="34" charset="-122"/>
                <a:cs typeface="Arial"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3"/>
          </a:solidFill>
          <a:ln w="12700">
            <a:solidFill>
              <a:srgbClr val="0B1F33"/>
            </a:solidFill>
            <a:prstDash val="solid"/>
          </a:ln>
        </p:spPr>
        <p:txBody>
          <a:bodyPr/>
          <a:p/>
        </p:txBody>
      </p:sp>
      <p:sp>
        <p:nvSpPr>
          <p:cNvPr id="3" name="Text 1"/>
          <p:cNvSpPr/>
          <p:nvPr/>
        </p:nvSpPr>
        <p:spPr>
          <a:xfrm>
            <a:off x="411480" y="109728"/>
            <a:ext cx="8961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Business Problem</a:t>
            </a:r>
            <a:endParaRPr lang="en-US" sz="1300" dirty="0"/>
          </a:p>
        </p:txBody>
      </p:sp>
      <p:sp>
        <p:nvSpPr>
          <p:cNvPr id="4" name="Text 2"/>
          <p:cNvSpPr/>
          <p:nvPr/>
        </p:nvSpPr>
        <p:spPr>
          <a:xfrm>
            <a:off x="9692640" y="109728"/>
            <a:ext cx="2057400" cy="274320"/>
          </a:xfrm>
          <a:prstGeom prst="rect">
            <a:avLst/>
          </a:prstGeom>
          <a:noFill/>
          <a:ln/>
        </p:spPr>
        <p:txBody>
          <a:bodyPr wrap="square" lIns="0" tIns="0" rIns="0" bIns="0" rtlCol="0" anchor="ctr"/>
          <a:lstStyle/>
          <a:p>
            <a:pPr algn="r" indent="0" marL="0">
              <a:buNone/>
            </a:pPr>
            <a:r>
              <a:rPr lang="en-US" sz="900" dirty="0">
                <a:solidFill>
                  <a:srgbClr val="D9E2EC"/>
                </a:solidFill>
                <a:latin typeface="Arial" pitchFamily="34" charset="0"/>
                <a:ea typeface="Arial" pitchFamily="34" charset="-122"/>
                <a:cs typeface="Arial" pitchFamily="34" charset="-120"/>
              </a:rPr>
              <a:t>Fraud Detection</a:t>
            </a:r>
            <a:endParaRPr lang="en-US" sz="900" dirty="0"/>
          </a:p>
        </p:txBody>
      </p:sp>
      <p:sp>
        <p:nvSpPr>
          <p:cNvPr id="5" name="Text 3"/>
          <p:cNvSpPr/>
          <p:nvPr/>
        </p:nvSpPr>
        <p:spPr>
          <a:xfrm>
            <a:off x="594360" y="786384"/>
            <a:ext cx="10881360" cy="594360"/>
          </a:xfrm>
          <a:prstGeom prst="rect">
            <a:avLst/>
          </a:prstGeom>
          <a:noFill/>
          <a:ln/>
        </p:spPr>
        <p:txBody>
          <a:bodyPr wrap="square" lIns="254" tIns="254" rIns="254" bIns="254" rtlCol="0" anchor="ctr"/>
          <a:lstStyle/>
          <a:p>
            <a:pPr indent="0" marL="0">
              <a:buNone/>
            </a:pPr>
            <a:r>
              <a:rPr lang="en-US" sz="2800" b="1" dirty="0">
                <a:solidFill>
                  <a:srgbClr val="0B1F33"/>
                </a:solidFill>
                <a:latin typeface="Arial" pitchFamily="34" charset="0"/>
                <a:ea typeface="Arial" pitchFamily="34" charset="-122"/>
                <a:cs typeface="Arial" pitchFamily="34" charset="-120"/>
              </a:rPr>
              <a:t>Fraud is rare, but costly to miss</a:t>
            </a:r>
            <a:endParaRPr lang="en-US" sz="2800" dirty="0"/>
          </a:p>
        </p:txBody>
      </p:sp>
      <p:sp>
        <p:nvSpPr>
          <p:cNvPr id="6" name="Text 4"/>
          <p:cNvSpPr/>
          <p:nvPr/>
        </p:nvSpPr>
        <p:spPr>
          <a:xfrm>
            <a:off x="621792" y="1399032"/>
            <a:ext cx="10424160" cy="301752"/>
          </a:xfrm>
          <a:prstGeom prst="rect">
            <a:avLst/>
          </a:prstGeom>
          <a:noFill/>
          <a:ln/>
        </p:spPr>
        <p:txBody>
          <a:bodyPr wrap="square" lIns="0" tIns="0" rIns="0" bIns="0" rtlCol="0" anchor="ctr"/>
          <a:lstStyle/>
          <a:p>
            <a:pPr indent="0" marL="0">
              <a:buNone/>
            </a:pPr>
            <a:r>
              <a:rPr lang="en-US" sz="1250" dirty="0">
                <a:solidFill>
                  <a:srgbClr val="5B6770"/>
                </a:solidFill>
                <a:latin typeface="Arial" pitchFamily="34" charset="0"/>
                <a:ea typeface="Arial" pitchFamily="34" charset="-122"/>
                <a:cs typeface="Arial" pitchFamily="34" charset="-120"/>
              </a:rPr>
              <a:t>The business challenge is to catch fraud without overwhelming reviewers with false alerts.</a:t>
            </a:r>
            <a:endParaRPr lang="en-US" sz="1250" dirty="0"/>
          </a:p>
        </p:txBody>
      </p:sp>
      <p:sp>
        <p:nvSpPr>
          <p:cNvPr id="7" name="Shape 5"/>
          <p:cNvSpPr/>
          <p:nvPr/>
        </p:nvSpPr>
        <p:spPr>
          <a:xfrm>
            <a:off x="731520" y="1920240"/>
            <a:ext cx="2743200" cy="1325880"/>
          </a:xfrm>
          <a:prstGeom prst="roundRect">
            <a:avLst>
              <a:gd name="adj" fmla="val 5517"/>
            </a:avLst>
          </a:prstGeom>
          <a:solidFill>
            <a:srgbClr val="FFFFFF"/>
          </a:solidFill>
          <a:ln w="12700">
            <a:solidFill>
              <a:srgbClr val="D9E2EC"/>
            </a:solidFill>
            <a:prstDash val="solid"/>
          </a:ln>
        </p:spPr>
        <p:txBody>
          <a:bodyPr/>
          <a:p/>
        </p:txBody>
      </p:sp>
      <p:sp>
        <p:nvSpPr>
          <p:cNvPr id="8" name="Shape 6"/>
          <p:cNvSpPr/>
          <p:nvPr/>
        </p:nvSpPr>
        <p:spPr>
          <a:xfrm>
            <a:off x="731520" y="1920240"/>
            <a:ext cx="73152" cy="1325880"/>
          </a:xfrm>
          <a:prstGeom prst="rect">
            <a:avLst/>
          </a:prstGeom>
          <a:solidFill>
            <a:srgbClr val="D9534F"/>
          </a:solidFill>
          <a:ln w="12700">
            <a:solidFill>
              <a:srgbClr val="D9534F"/>
            </a:solidFill>
            <a:prstDash val="solid"/>
          </a:ln>
        </p:spPr>
        <p:txBody>
          <a:bodyPr/>
          <a:p/>
        </p:txBody>
      </p:sp>
      <p:sp>
        <p:nvSpPr>
          <p:cNvPr id="9" name="Text 7"/>
          <p:cNvSpPr/>
          <p:nvPr/>
        </p:nvSpPr>
        <p:spPr>
          <a:xfrm>
            <a:off x="932688" y="2057400"/>
            <a:ext cx="242316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Financial loss</a:t>
            </a:r>
            <a:endParaRPr lang="en-US" sz="1250" dirty="0"/>
          </a:p>
        </p:txBody>
      </p:sp>
      <p:sp>
        <p:nvSpPr>
          <p:cNvPr id="10" name="Text 8"/>
          <p:cNvSpPr/>
          <p:nvPr/>
        </p:nvSpPr>
        <p:spPr>
          <a:xfrm>
            <a:off x="932688" y="2423160"/>
            <a:ext cx="2423160" cy="68580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Missed fraudulent transactions create direct loss exposure.</a:t>
            </a:r>
            <a:endParaRPr lang="en-US" sz="1050" dirty="0"/>
          </a:p>
        </p:txBody>
      </p:sp>
      <p:sp>
        <p:nvSpPr>
          <p:cNvPr id="11" name="Shape 9"/>
          <p:cNvSpPr/>
          <p:nvPr/>
        </p:nvSpPr>
        <p:spPr>
          <a:xfrm>
            <a:off x="3657600" y="1920240"/>
            <a:ext cx="2743200" cy="1325880"/>
          </a:xfrm>
          <a:prstGeom prst="roundRect">
            <a:avLst>
              <a:gd name="adj" fmla="val 5517"/>
            </a:avLst>
          </a:prstGeom>
          <a:solidFill>
            <a:srgbClr val="FFFFFF"/>
          </a:solidFill>
          <a:ln w="12700">
            <a:solidFill>
              <a:srgbClr val="D9E2EC"/>
            </a:solidFill>
            <a:prstDash val="solid"/>
          </a:ln>
        </p:spPr>
        <p:txBody>
          <a:bodyPr/>
          <a:p/>
        </p:txBody>
      </p:sp>
      <p:sp>
        <p:nvSpPr>
          <p:cNvPr id="12" name="Shape 10"/>
          <p:cNvSpPr/>
          <p:nvPr/>
        </p:nvSpPr>
        <p:spPr>
          <a:xfrm>
            <a:off x="3657600" y="1920240"/>
            <a:ext cx="73152" cy="1325880"/>
          </a:xfrm>
          <a:prstGeom prst="rect">
            <a:avLst/>
          </a:prstGeom>
          <a:solidFill>
            <a:srgbClr val="F59E0B"/>
          </a:solidFill>
          <a:ln w="12700">
            <a:solidFill>
              <a:srgbClr val="F59E0B"/>
            </a:solidFill>
            <a:prstDash val="solid"/>
          </a:ln>
        </p:spPr>
        <p:txBody>
          <a:bodyPr/>
          <a:p/>
        </p:txBody>
      </p:sp>
      <p:sp>
        <p:nvSpPr>
          <p:cNvPr id="13" name="Text 11"/>
          <p:cNvSpPr/>
          <p:nvPr/>
        </p:nvSpPr>
        <p:spPr>
          <a:xfrm>
            <a:off x="3858768" y="2057400"/>
            <a:ext cx="242316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Customer trust</a:t>
            </a:r>
            <a:endParaRPr lang="en-US" sz="1250" dirty="0"/>
          </a:p>
        </p:txBody>
      </p:sp>
      <p:sp>
        <p:nvSpPr>
          <p:cNvPr id="14" name="Text 12"/>
          <p:cNvSpPr/>
          <p:nvPr/>
        </p:nvSpPr>
        <p:spPr>
          <a:xfrm>
            <a:off x="3858768" y="2423160"/>
            <a:ext cx="2423160" cy="68580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Fraud events can damage customer confidence and brand trust.</a:t>
            </a:r>
            <a:endParaRPr lang="en-US" sz="1050" dirty="0"/>
          </a:p>
        </p:txBody>
      </p:sp>
      <p:sp>
        <p:nvSpPr>
          <p:cNvPr id="15" name="Shape 13"/>
          <p:cNvSpPr/>
          <p:nvPr/>
        </p:nvSpPr>
        <p:spPr>
          <a:xfrm>
            <a:off x="6583680" y="1920240"/>
            <a:ext cx="2743200" cy="1325880"/>
          </a:xfrm>
          <a:prstGeom prst="roundRect">
            <a:avLst>
              <a:gd name="adj" fmla="val 5517"/>
            </a:avLst>
          </a:prstGeom>
          <a:solidFill>
            <a:srgbClr val="FFFFFF"/>
          </a:solidFill>
          <a:ln w="12700">
            <a:solidFill>
              <a:srgbClr val="D9E2EC"/>
            </a:solidFill>
            <a:prstDash val="solid"/>
          </a:ln>
        </p:spPr>
        <p:txBody>
          <a:bodyPr/>
          <a:p/>
        </p:txBody>
      </p:sp>
      <p:sp>
        <p:nvSpPr>
          <p:cNvPr id="16" name="Shape 14"/>
          <p:cNvSpPr/>
          <p:nvPr/>
        </p:nvSpPr>
        <p:spPr>
          <a:xfrm>
            <a:off x="6583680" y="1920240"/>
            <a:ext cx="73152" cy="1325880"/>
          </a:xfrm>
          <a:prstGeom prst="rect">
            <a:avLst/>
          </a:prstGeom>
          <a:solidFill>
            <a:srgbClr val="1F4E79"/>
          </a:solidFill>
          <a:ln w="12700">
            <a:solidFill>
              <a:srgbClr val="1F4E79"/>
            </a:solidFill>
            <a:prstDash val="solid"/>
          </a:ln>
        </p:spPr>
        <p:txBody>
          <a:bodyPr/>
          <a:p/>
        </p:txBody>
      </p:sp>
      <p:sp>
        <p:nvSpPr>
          <p:cNvPr id="17" name="Text 15"/>
          <p:cNvSpPr/>
          <p:nvPr/>
        </p:nvSpPr>
        <p:spPr>
          <a:xfrm>
            <a:off x="6784848" y="2057400"/>
            <a:ext cx="242316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Review burden</a:t>
            </a:r>
            <a:endParaRPr lang="en-US" sz="1250" dirty="0"/>
          </a:p>
        </p:txBody>
      </p:sp>
      <p:sp>
        <p:nvSpPr>
          <p:cNvPr id="18" name="Text 16"/>
          <p:cNvSpPr/>
          <p:nvPr/>
        </p:nvSpPr>
        <p:spPr>
          <a:xfrm>
            <a:off x="6784848" y="2423160"/>
            <a:ext cx="2423160" cy="68580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False positives increase investigation workload.</a:t>
            </a:r>
            <a:endParaRPr lang="en-US" sz="1050" dirty="0"/>
          </a:p>
        </p:txBody>
      </p:sp>
      <p:sp>
        <p:nvSpPr>
          <p:cNvPr id="19" name="Shape 17"/>
          <p:cNvSpPr/>
          <p:nvPr/>
        </p:nvSpPr>
        <p:spPr>
          <a:xfrm>
            <a:off x="9509760" y="1920240"/>
            <a:ext cx="2011680" cy="1325880"/>
          </a:xfrm>
          <a:prstGeom prst="roundRect">
            <a:avLst>
              <a:gd name="adj" fmla="val 5517"/>
            </a:avLst>
          </a:prstGeom>
          <a:solidFill>
            <a:srgbClr val="FFFFFF"/>
          </a:solidFill>
          <a:ln w="12700">
            <a:solidFill>
              <a:srgbClr val="D9E2EC"/>
            </a:solidFill>
            <a:prstDash val="solid"/>
          </a:ln>
        </p:spPr>
        <p:txBody>
          <a:bodyPr/>
          <a:p/>
        </p:txBody>
      </p:sp>
      <p:sp>
        <p:nvSpPr>
          <p:cNvPr id="20" name="Shape 18"/>
          <p:cNvSpPr/>
          <p:nvPr/>
        </p:nvSpPr>
        <p:spPr>
          <a:xfrm>
            <a:off x="9509760" y="1920240"/>
            <a:ext cx="73152" cy="1325880"/>
          </a:xfrm>
          <a:prstGeom prst="rect">
            <a:avLst/>
          </a:prstGeom>
          <a:solidFill>
            <a:srgbClr val="00A6A6"/>
          </a:solidFill>
          <a:ln w="12700">
            <a:solidFill>
              <a:srgbClr val="00A6A6"/>
            </a:solidFill>
            <a:prstDash val="solid"/>
          </a:ln>
        </p:spPr>
        <p:txBody>
          <a:bodyPr/>
          <a:p/>
        </p:txBody>
      </p:sp>
      <p:sp>
        <p:nvSpPr>
          <p:cNvPr id="21" name="Text 19"/>
          <p:cNvSpPr/>
          <p:nvPr/>
        </p:nvSpPr>
        <p:spPr>
          <a:xfrm>
            <a:off x="9710928" y="2057400"/>
            <a:ext cx="16916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Risk control</a:t>
            </a:r>
            <a:endParaRPr lang="en-US" sz="1250" dirty="0"/>
          </a:p>
        </p:txBody>
      </p:sp>
      <p:sp>
        <p:nvSpPr>
          <p:cNvPr id="22" name="Text 20"/>
          <p:cNvSpPr/>
          <p:nvPr/>
        </p:nvSpPr>
        <p:spPr>
          <a:xfrm>
            <a:off x="9710928" y="2423160"/>
            <a:ext cx="1691640" cy="68580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Models must support operational decision-making.</a:t>
            </a:r>
            <a:endParaRPr lang="en-US" sz="1050" dirty="0"/>
          </a:p>
        </p:txBody>
      </p:sp>
      <p:sp>
        <p:nvSpPr>
          <p:cNvPr id="23" name="Text 21"/>
          <p:cNvSpPr/>
          <p:nvPr/>
        </p:nvSpPr>
        <p:spPr>
          <a:xfrm>
            <a:off x="822960" y="3794760"/>
            <a:ext cx="1828800" cy="274320"/>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Key implication</a:t>
            </a:r>
            <a:endParaRPr lang="en-US" sz="1400" dirty="0"/>
          </a:p>
        </p:txBody>
      </p:sp>
      <p:sp>
        <p:nvSpPr>
          <p:cNvPr id="24" name="Text 22"/>
          <p:cNvSpPr/>
          <p:nvPr/>
        </p:nvSpPr>
        <p:spPr>
          <a:xfrm>
            <a:off x="914400" y="4251960"/>
            <a:ext cx="10332720" cy="1188720"/>
          </a:xfrm>
          <a:prstGeom prst="rect">
            <a:avLst/>
          </a:prstGeom>
          <a:noFill/>
          <a:ln/>
        </p:spPr>
        <p:txBody>
          <a:bodyPr wrap="square" lIns="635" tIns="635" rIns="635" bIns="635" rtlCol="0" anchor="ctr">
            <a:normAutofit/>
          </a:bodyPr>
          <a:lstStyle/>
          <a:p>
            <a:r>
              <a:rPr lang="en-US" sz="1300" dirty="0">
                <a:solidFill>
                  <a:srgbClr val="111827"/>
                </a:solidFill>
                <a:latin typeface="Arial" pitchFamily="34" charset="0"/>
                <a:ea typeface="Arial" pitchFamily="34" charset="-122"/>
                <a:cs typeface="Arial" pitchFamily="34" charset="-120"/>
              </a:rPr>
              <a:t>Accuracy alone is not a reliable success metric.</a:t>
            </a:r>
            <a:endParaRPr lang="en-US" sz="1300" dirty="0"/>
          </a:p>
          <a:p>
            <a:r>
              <a:rPr lang="en-US" sz="1300" dirty="0">
                <a:solidFill>
                  <a:srgbClr val="111827"/>
                </a:solidFill>
                <a:latin typeface="Arial" pitchFamily="34" charset="0"/>
                <a:ea typeface="Arial" pitchFamily="34" charset="-122"/>
                <a:cs typeface="Arial" pitchFamily="34" charset="-120"/>
              </a:rPr>
              <a:t>Recall matters because false negatives are missed fraud.</a:t>
            </a:r>
            <a:endParaRPr lang="en-US" sz="1300" dirty="0"/>
          </a:p>
          <a:p>
            <a:r>
              <a:rPr lang="en-US" sz="1300" dirty="0">
                <a:solidFill>
                  <a:srgbClr val="111827"/>
                </a:solidFill>
                <a:latin typeface="Arial" pitchFamily="34" charset="0"/>
                <a:ea typeface="Arial" pitchFamily="34" charset="-122"/>
                <a:cs typeface="Arial" pitchFamily="34" charset="-120"/>
              </a:rPr>
              <a:t>Precision matters because false positives create manual review workload.</a:t>
            </a:r>
            <a:endParaRPr lang="en-US" sz="1300" dirty="0"/>
          </a:p>
          <a:p>
            <a:r>
              <a:rPr lang="en-US" sz="1300" dirty="0">
                <a:solidFill>
                  <a:srgbClr val="111827"/>
                </a:solidFill>
                <a:latin typeface="Arial" pitchFamily="34" charset="0"/>
                <a:ea typeface="Arial" pitchFamily="34" charset="-122"/>
                <a:cs typeface="Arial" pitchFamily="34" charset="-120"/>
              </a:rPr>
              <a:t>PR-AUC is especially useful for rare positive-class problems.</a:t>
            </a:r>
            <a:endParaRPr lang="en-US" sz="1300" dirty="0"/>
          </a:p>
        </p:txBody>
      </p:sp>
      <p:sp>
        <p:nvSpPr>
          <p:cNvPr id="25" name="Text 23"/>
          <p:cNvSpPr/>
          <p:nvPr/>
        </p:nvSpPr>
        <p:spPr>
          <a:xfrm>
            <a:off x="411480" y="6519672"/>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Credit Card Fraud Detection Capstone | Parviz Ali</a:t>
            </a:r>
            <a:endParaRPr lang="en-US" sz="750" dirty="0"/>
          </a:p>
        </p:txBody>
      </p:sp>
      <p:sp>
        <p:nvSpPr>
          <p:cNvPr id="26" name="Text 24"/>
          <p:cNvSpPr/>
          <p:nvPr/>
        </p:nvSpPr>
        <p:spPr>
          <a:xfrm>
            <a:off x="11475720" y="6492240"/>
            <a:ext cx="320040" cy="164592"/>
          </a:xfrm>
          <a:prstGeom prst="rect">
            <a:avLst/>
          </a:prstGeom>
          <a:noFill/>
          <a:ln/>
        </p:spPr>
        <p:txBody>
          <a:bodyPr wrap="square" lIns="0" tIns="0" rIns="0" bIns="0" rtlCol="0" anchor="ctr"/>
          <a:lstStyle/>
          <a:p>
            <a:pPr algn="r" indent="0" marL="0">
              <a:buNone/>
            </a:pPr>
            <a:r>
              <a:rPr lang="en-US" sz="750" dirty="0">
                <a:solidFill>
                  <a:srgbClr val="6B7280"/>
                </a:solidFill>
                <a:latin typeface="Arial" pitchFamily="34" charset="0"/>
                <a:ea typeface="Arial" pitchFamily="34" charset="-122"/>
                <a:cs typeface="Arial"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3"/>
          </a:solidFill>
          <a:ln w="12700">
            <a:solidFill>
              <a:srgbClr val="0B1F33"/>
            </a:solidFill>
            <a:prstDash val="solid"/>
          </a:ln>
        </p:spPr>
        <p:txBody>
          <a:bodyPr/>
          <a:p/>
        </p:txBody>
      </p:sp>
      <p:sp>
        <p:nvSpPr>
          <p:cNvPr id="3" name="Text 1"/>
          <p:cNvSpPr/>
          <p:nvPr/>
        </p:nvSpPr>
        <p:spPr>
          <a:xfrm>
            <a:off x="411480" y="109728"/>
            <a:ext cx="8961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Dataset Overview</a:t>
            </a:r>
            <a:endParaRPr lang="en-US" sz="1300" dirty="0"/>
          </a:p>
        </p:txBody>
      </p:sp>
      <p:sp>
        <p:nvSpPr>
          <p:cNvPr id="4" name="Text 2"/>
          <p:cNvSpPr/>
          <p:nvPr/>
        </p:nvSpPr>
        <p:spPr>
          <a:xfrm>
            <a:off x="9692640" y="109728"/>
            <a:ext cx="2057400" cy="274320"/>
          </a:xfrm>
          <a:prstGeom prst="rect">
            <a:avLst/>
          </a:prstGeom>
          <a:noFill/>
          <a:ln/>
        </p:spPr>
        <p:txBody>
          <a:bodyPr wrap="square" lIns="0" tIns="0" rIns="0" bIns="0" rtlCol="0" anchor="ctr"/>
          <a:lstStyle/>
          <a:p>
            <a:pPr algn="r" indent="0" marL="0">
              <a:buNone/>
            </a:pPr>
            <a:r>
              <a:rPr lang="en-US" sz="900" dirty="0">
                <a:solidFill>
                  <a:srgbClr val="D9E2EC"/>
                </a:solidFill>
                <a:latin typeface="Arial" pitchFamily="34" charset="0"/>
                <a:ea typeface="Arial" pitchFamily="34" charset="-122"/>
                <a:cs typeface="Arial" pitchFamily="34" charset="-120"/>
              </a:rPr>
              <a:t>Data</a:t>
            </a:r>
            <a:endParaRPr lang="en-US" sz="900" dirty="0"/>
          </a:p>
        </p:txBody>
      </p:sp>
      <p:sp>
        <p:nvSpPr>
          <p:cNvPr id="5" name="Text 3"/>
          <p:cNvSpPr/>
          <p:nvPr/>
        </p:nvSpPr>
        <p:spPr>
          <a:xfrm>
            <a:off x="594360" y="786384"/>
            <a:ext cx="10881360" cy="594360"/>
          </a:xfrm>
          <a:prstGeom prst="rect">
            <a:avLst/>
          </a:prstGeom>
          <a:noFill/>
          <a:ln/>
        </p:spPr>
        <p:txBody>
          <a:bodyPr wrap="square" lIns="254" tIns="254" rIns="254" bIns="254" rtlCol="0" anchor="ctr"/>
          <a:lstStyle/>
          <a:p>
            <a:pPr indent="0" marL="0">
              <a:buNone/>
            </a:pPr>
            <a:r>
              <a:rPr lang="en-US" sz="2800" b="1" dirty="0">
                <a:solidFill>
                  <a:srgbClr val="0B1F33"/>
                </a:solidFill>
                <a:latin typeface="Arial" pitchFamily="34" charset="0"/>
                <a:ea typeface="Arial" pitchFamily="34" charset="-122"/>
                <a:cs typeface="Arial" pitchFamily="34" charset="-120"/>
              </a:rPr>
              <a:t>Kaggle/ULB credit card fraud dataset</a:t>
            </a:r>
            <a:endParaRPr lang="en-US" sz="2800" dirty="0"/>
          </a:p>
        </p:txBody>
      </p:sp>
      <p:sp>
        <p:nvSpPr>
          <p:cNvPr id="6" name="Text 4"/>
          <p:cNvSpPr/>
          <p:nvPr/>
        </p:nvSpPr>
        <p:spPr>
          <a:xfrm>
            <a:off x="621792" y="1399032"/>
            <a:ext cx="10424160" cy="301752"/>
          </a:xfrm>
          <a:prstGeom prst="rect">
            <a:avLst/>
          </a:prstGeom>
          <a:noFill/>
          <a:ln/>
        </p:spPr>
        <p:txBody>
          <a:bodyPr wrap="square" lIns="0" tIns="0" rIns="0" bIns="0" rtlCol="0" anchor="ctr"/>
          <a:lstStyle/>
          <a:p>
            <a:pPr indent="0" marL="0">
              <a:buNone/>
            </a:pPr>
            <a:r>
              <a:rPr lang="en-US" sz="1250" dirty="0">
                <a:solidFill>
                  <a:srgbClr val="5B6770"/>
                </a:solidFill>
                <a:latin typeface="Arial" pitchFamily="34" charset="0"/>
                <a:ea typeface="Arial" pitchFamily="34" charset="-122"/>
                <a:cs typeface="Arial" pitchFamily="34" charset="-120"/>
              </a:rPr>
              <a:t>The dataset is anonymized and highly imbalanced.</a:t>
            </a:r>
            <a:endParaRPr lang="en-US" sz="1250" dirty="0"/>
          </a:p>
        </p:txBody>
      </p:sp>
      <p:sp>
        <p:nvSpPr>
          <p:cNvPr id="7" name="Shape 5"/>
          <p:cNvSpPr/>
          <p:nvPr/>
        </p:nvSpPr>
        <p:spPr>
          <a:xfrm>
            <a:off x="777240" y="1828800"/>
            <a:ext cx="3154680" cy="822960"/>
          </a:xfrm>
          <a:prstGeom prst="roundRect">
            <a:avLst>
              <a:gd name="adj" fmla="val 8889"/>
            </a:avLst>
          </a:prstGeom>
          <a:solidFill>
            <a:srgbClr val="FFFFFF"/>
          </a:solidFill>
          <a:ln w="12700">
            <a:solidFill>
              <a:srgbClr val="D9E2EC"/>
            </a:solidFill>
            <a:prstDash val="solid"/>
          </a:ln>
        </p:spPr>
        <p:txBody>
          <a:bodyPr/>
          <a:p/>
        </p:txBody>
      </p:sp>
      <p:sp>
        <p:nvSpPr>
          <p:cNvPr id="8" name="Shape 6"/>
          <p:cNvSpPr/>
          <p:nvPr/>
        </p:nvSpPr>
        <p:spPr>
          <a:xfrm>
            <a:off x="777240" y="1828800"/>
            <a:ext cx="73152" cy="822960"/>
          </a:xfrm>
          <a:prstGeom prst="rect">
            <a:avLst/>
          </a:prstGeom>
          <a:solidFill>
            <a:srgbClr val="00A6A6"/>
          </a:solidFill>
          <a:ln w="12700">
            <a:solidFill>
              <a:srgbClr val="00A6A6"/>
            </a:solidFill>
            <a:prstDash val="solid"/>
          </a:ln>
        </p:spPr>
        <p:txBody>
          <a:bodyPr/>
          <a:p/>
        </p:txBody>
      </p:sp>
      <p:sp>
        <p:nvSpPr>
          <p:cNvPr id="9" name="Text 7"/>
          <p:cNvSpPr/>
          <p:nvPr/>
        </p:nvSpPr>
        <p:spPr>
          <a:xfrm>
            <a:off x="978408" y="1965960"/>
            <a:ext cx="28346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Total transactions</a:t>
            </a:r>
            <a:endParaRPr lang="en-US" sz="1250" dirty="0"/>
          </a:p>
        </p:txBody>
      </p:sp>
      <p:sp>
        <p:nvSpPr>
          <p:cNvPr id="10" name="Text 8"/>
          <p:cNvSpPr/>
          <p:nvPr/>
        </p:nvSpPr>
        <p:spPr>
          <a:xfrm>
            <a:off x="978408" y="2331720"/>
            <a:ext cx="2834640" cy="18288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284,807</a:t>
            </a:r>
            <a:endParaRPr lang="en-US" sz="1050" dirty="0"/>
          </a:p>
        </p:txBody>
      </p:sp>
      <p:sp>
        <p:nvSpPr>
          <p:cNvPr id="11" name="Shape 9"/>
          <p:cNvSpPr/>
          <p:nvPr/>
        </p:nvSpPr>
        <p:spPr>
          <a:xfrm>
            <a:off x="4526280" y="1828800"/>
            <a:ext cx="3154680" cy="822960"/>
          </a:xfrm>
          <a:prstGeom prst="roundRect">
            <a:avLst>
              <a:gd name="adj" fmla="val 8889"/>
            </a:avLst>
          </a:prstGeom>
          <a:solidFill>
            <a:srgbClr val="FFFFFF"/>
          </a:solidFill>
          <a:ln w="12700">
            <a:solidFill>
              <a:srgbClr val="D9E2EC"/>
            </a:solidFill>
            <a:prstDash val="solid"/>
          </a:ln>
        </p:spPr>
        <p:txBody>
          <a:bodyPr/>
          <a:p/>
        </p:txBody>
      </p:sp>
      <p:sp>
        <p:nvSpPr>
          <p:cNvPr id="12" name="Shape 10"/>
          <p:cNvSpPr/>
          <p:nvPr/>
        </p:nvSpPr>
        <p:spPr>
          <a:xfrm>
            <a:off x="4526280" y="1828800"/>
            <a:ext cx="73152" cy="822960"/>
          </a:xfrm>
          <a:prstGeom prst="rect">
            <a:avLst/>
          </a:prstGeom>
          <a:solidFill>
            <a:srgbClr val="D9534F"/>
          </a:solidFill>
          <a:ln w="12700">
            <a:solidFill>
              <a:srgbClr val="D9534F"/>
            </a:solidFill>
            <a:prstDash val="solid"/>
          </a:ln>
        </p:spPr>
        <p:txBody>
          <a:bodyPr/>
          <a:p/>
        </p:txBody>
      </p:sp>
      <p:sp>
        <p:nvSpPr>
          <p:cNvPr id="13" name="Text 11"/>
          <p:cNvSpPr/>
          <p:nvPr/>
        </p:nvSpPr>
        <p:spPr>
          <a:xfrm>
            <a:off x="4727448" y="1965960"/>
            <a:ext cx="28346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Fraud transactions</a:t>
            </a:r>
            <a:endParaRPr lang="en-US" sz="1250" dirty="0"/>
          </a:p>
        </p:txBody>
      </p:sp>
      <p:sp>
        <p:nvSpPr>
          <p:cNvPr id="14" name="Text 12"/>
          <p:cNvSpPr/>
          <p:nvPr/>
        </p:nvSpPr>
        <p:spPr>
          <a:xfrm>
            <a:off x="4727448" y="2331720"/>
            <a:ext cx="2834640" cy="18288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492</a:t>
            </a:r>
            <a:endParaRPr lang="en-US" sz="1050" dirty="0"/>
          </a:p>
        </p:txBody>
      </p:sp>
      <p:sp>
        <p:nvSpPr>
          <p:cNvPr id="15" name="Shape 13"/>
          <p:cNvSpPr/>
          <p:nvPr/>
        </p:nvSpPr>
        <p:spPr>
          <a:xfrm>
            <a:off x="8275320" y="1828800"/>
            <a:ext cx="3154680" cy="822960"/>
          </a:xfrm>
          <a:prstGeom prst="roundRect">
            <a:avLst>
              <a:gd name="adj" fmla="val 8889"/>
            </a:avLst>
          </a:prstGeom>
          <a:solidFill>
            <a:srgbClr val="FFFFFF"/>
          </a:solidFill>
          <a:ln w="12700">
            <a:solidFill>
              <a:srgbClr val="D9E2EC"/>
            </a:solidFill>
            <a:prstDash val="solid"/>
          </a:ln>
        </p:spPr>
        <p:txBody>
          <a:bodyPr/>
          <a:p/>
        </p:txBody>
      </p:sp>
      <p:sp>
        <p:nvSpPr>
          <p:cNvPr id="16" name="Shape 14"/>
          <p:cNvSpPr/>
          <p:nvPr/>
        </p:nvSpPr>
        <p:spPr>
          <a:xfrm>
            <a:off x="8275320" y="1828800"/>
            <a:ext cx="73152" cy="822960"/>
          </a:xfrm>
          <a:prstGeom prst="rect">
            <a:avLst/>
          </a:prstGeom>
          <a:solidFill>
            <a:srgbClr val="00A6A6"/>
          </a:solidFill>
          <a:ln w="12700">
            <a:solidFill>
              <a:srgbClr val="00A6A6"/>
            </a:solidFill>
            <a:prstDash val="solid"/>
          </a:ln>
        </p:spPr>
        <p:txBody>
          <a:bodyPr/>
          <a:p/>
        </p:txBody>
      </p:sp>
      <p:sp>
        <p:nvSpPr>
          <p:cNvPr id="17" name="Text 15"/>
          <p:cNvSpPr/>
          <p:nvPr/>
        </p:nvSpPr>
        <p:spPr>
          <a:xfrm>
            <a:off x="8476488" y="1965960"/>
            <a:ext cx="28346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Fraud rate</a:t>
            </a:r>
            <a:endParaRPr lang="en-US" sz="1250" dirty="0"/>
          </a:p>
        </p:txBody>
      </p:sp>
      <p:sp>
        <p:nvSpPr>
          <p:cNvPr id="18" name="Text 16"/>
          <p:cNvSpPr/>
          <p:nvPr/>
        </p:nvSpPr>
        <p:spPr>
          <a:xfrm>
            <a:off x="8476488" y="2331720"/>
            <a:ext cx="2834640" cy="18288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 0.17%</a:t>
            </a:r>
            <a:endParaRPr lang="en-US" sz="1050" dirty="0"/>
          </a:p>
        </p:txBody>
      </p:sp>
      <p:sp>
        <p:nvSpPr>
          <p:cNvPr id="19" name="Shape 17"/>
          <p:cNvSpPr/>
          <p:nvPr/>
        </p:nvSpPr>
        <p:spPr>
          <a:xfrm>
            <a:off x="777240" y="3017520"/>
            <a:ext cx="3154680" cy="822960"/>
          </a:xfrm>
          <a:prstGeom prst="roundRect">
            <a:avLst>
              <a:gd name="adj" fmla="val 8889"/>
            </a:avLst>
          </a:prstGeom>
          <a:solidFill>
            <a:srgbClr val="FFFFFF"/>
          </a:solidFill>
          <a:ln w="12700">
            <a:solidFill>
              <a:srgbClr val="D9E2EC"/>
            </a:solidFill>
            <a:prstDash val="solid"/>
          </a:ln>
        </p:spPr>
        <p:txBody>
          <a:bodyPr/>
          <a:p/>
        </p:txBody>
      </p:sp>
      <p:sp>
        <p:nvSpPr>
          <p:cNvPr id="20" name="Shape 18"/>
          <p:cNvSpPr/>
          <p:nvPr/>
        </p:nvSpPr>
        <p:spPr>
          <a:xfrm>
            <a:off x="777240" y="3017520"/>
            <a:ext cx="73152" cy="822960"/>
          </a:xfrm>
          <a:prstGeom prst="rect">
            <a:avLst/>
          </a:prstGeom>
          <a:solidFill>
            <a:srgbClr val="00A6A6"/>
          </a:solidFill>
          <a:ln w="12700">
            <a:solidFill>
              <a:srgbClr val="00A6A6"/>
            </a:solidFill>
            <a:prstDash val="solid"/>
          </a:ln>
        </p:spPr>
        <p:txBody>
          <a:bodyPr/>
          <a:p/>
        </p:txBody>
      </p:sp>
      <p:sp>
        <p:nvSpPr>
          <p:cNvPr id="21" name="Text 19"/>
          <p:cNvSpPr/>
          <p:nvPr/>
        </p:nvSpPr>
        <p:spPr>
          <a:xfrm>
            <a:off x="978408" y="3154680"/>
            <a:ext cx="28346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Features</a:t>
            </a:r>
            <a:endParaRPr lang="en-US" sz="1250" dirty="0"/>
          </a:p>
        </p:txBody>
      </p:sp>
      <p:sp>
        <p:nvSpPr>
          <p:cNvPr id="22" name="Text 20"/>
          <p:cNvSpPr/>
          <p:nvPr/>
        </p:nvSpPr>
        <p:spPr>
          <a:xfrm>
            <a:off x="978408" y="3520440"/>
            <a:ext cx="2834640" cy="18288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Time, Amount, V1–V28</a:t>
            </a:r>
            <a:endParaRPr lang="en-US" sz="1050" dirty="0"/>
          </a:p>
        </p:txBody>
      </p:sp>
      <p:sp>
        <p:nvSpPr>
          <p:cNvPr id="23" name="Shape 21"/>
          <p:cNvSpPr/>
          <p:nvPr/>
        </p:nvSpPr>
        <p:spPr>
          <a:xfrm>
            <a:off x="4526280" y="3017520"/>
            <a:ext cx="3154680" cy="822960"/>
          </a:xfrm>
          <a:prstGeom prst="roundRect">
            <a:avLst>
              <a:gd name="adj" fmla="val 8889"/>
            </a:avLst>
          </a:prstGeom>
          <a:solidFill>
            <a:srgbClr val="FFFFFF"/>
          </a:solidFill>
          <a:ln w="12700">
            <a:solidFill>
              <a:srgbClr val="D9E2EC"/>
            </a:solidFill>
            <a:prstDash val="solid"/>
          </a:ln>
        </p:spPr>
        <p:txBody>
          <a:bodyPr/>
          <a:p/>
        </p:txBody>
      </p:sp>
      <p:sp>
        <p:nvSpPr>
          <p:cNvPr id="24" name="Shape 22"/>
          <p:cNvSpPr/>
          <p:nvPr/>
        </p:nvSpPr>
        <p:spPr>
          <a:xfrm>
            <a:off x="4526280" y="3017520"/>
            <a:ext cx="73152" cy="822960"/>
          </a:xfrm>
          <a:prstGeom prst="rect">
            <a:avLst/>
          </a:prstGeom>
          <a:solidFill>
            <a:srgbClr val="00A6A6"/>
          </a:solidFill>
          <a:ln w="12700">
            <a:solidFill>
              <a:srgbClr val="00A6A6"/>
            </a:solidFill>
            <a:prstDash val="solid"/>
          </a:ln>
        </p:spPr>
        <p:txBody>
          <a:bodyPr/>
          <a:p/>
        </p:txBody>
      </p:sp>
      <p:sp>
        <p:nvSpPr>
          <p:cNvPr id="25" name="Text 23"/>
          <p:cNvSpPr/>
          <p:nvPr/>
        </p:nvSpPr>
        <p:spPr>
          <a:xfrm>
            <a:off x="4727448" y="3154680"/>
            <a:ext cx="28346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Target</a:t>
            </a:r>
            <a:endParaRPr lang="en-US" sz="1250" dirty="0"/>
          </a:p>
        </p:txBody>
      </p:sp>
      <p:sp>
        <p:nvSpPr>
          <p:cNvPr id="26" name="Text 24"/>
          <p:cNvSpPr/>
          <p:nvPr/>
        </p:nvSpPr>
        <p:spPr>
          <a:xfrm>
            <a:off x="4727448" y="3520440"/>
            <a:ext cx="2834640" cy="18288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Class</a:t>
            </a:r>
            <a:endParaRPr lang="en-US" sz="1050" dirty="0"/>
          </a:p>
        </p:txBody>
      </p:sp>
      <p:sp>
        <p:nvSpPr>
          <p:cNvPr id="27" name="Shape 25"/>
          <p:cNvSpPr/>
          <p:nvPr/>
        </p:nvSpPr>
        <p:spPr>
          <a:xfrm>
            <a:off x="777240" y="4617720"/>
            <a:ext cx="10744200" cy="777240"/>
          </a:xfrm>
          <a:prstGeom prst="roundRect">
            <a:avLst>
              <a:gd name="adj" fmla="val 9412"/>
            </a:avLst>
          </a:prstGeom>
          <a:solidFill>
            <a:srgbClr val="FFF7ED"/>
          </a:solidFill>
          <a:ln w="12700">
            <a:solidFill>
              <a:srgbClr val="FDBA74"/>
            </a:solidFill>
            <a:prstDash val="solid"/>
          </a:ln>
        </p:spPr>
        <p:txBody>
          <a:bodyPr/>
          <a:p/>
        </p:txBody>
      </p:sp>
      <p:sp>
        <p:nvSpPr>
          <p:cNvPr id="28" name="Text 26"/>
          <p:cNvSpPr/>
          <p:nvPr/>
        </p:nvSpPr>
        <p:spPr>
          <a:xfrm>
            <a:off x="1005840" y="4828032"/>
            <a:ext cx="10241280" cy="256032"/>
          </a:xfrm>
          <a:prstGeom prst="rect">
            <a:avLst/>
          </a:prstGeom>
          <a:noFill/>
          <a:ln/>
        </p:spPr>
        <p:txBody>
          <a:bodyPr wrap="square" lIns="0" tIns="0" rIns="0" bIns="0" rtlCol="0" anchor="ctr"/>
          <a:lstStyle/>
          <a:p>
            <a:pPr indent="0" marL="0">
              <a:buNone/>
            </a:pPr>
            <a:r>
              <a:rPr lang="en-US" sz="1250" dirty="0">
                <a:solidFill>
                  <a:srgbClr val="111827"/>
                </a:solidFill>
                <a:latin typeface="Arial" pitchFamily="34" charset="0"/>
                <a:ea typeface="Arial" pitchFamily="34" charset="-122"/>
                <a:cs typeface="Arial" pitchFamily="34" charset="-120"/>
              </a:rPr>
              <a:t>Important note: V1–V28 are anonymized PCA-transformed features, so feature-level business interpretation is limited.</a:t>
            </a:r>
            <a:endParaRPr lang="en-US" sz="1250" dirty="0"/>
          </a:p>
        </p:txBody>
      </p:sp>
      <p:sp>
        <p:nvSpPr>
          <p:cNvPr id="29" name="Text 27"/>
          <p:cNvSpPr/>
          <p:nvPr/>
        </p:nvSpPr>
        <p:spPr>
          <a:xfrm>
            <a:off x="411480" y="6519672"/>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Credit Card Fraud Detection Capstone | Parviz Ali</a:t>
            </a:r>
            <a:endParaRPr lang="en-US" sz="750" dirty="0"/>
          </a:p>
        </p:txBody>
      </p:sp>
      <p:sp>
        <p:nvSpPr>
          <p:cNvPr id="30" name="Text 28"/>
          <p:cNvSpPr/>
          <p:nvPr/>
        </p:nvSpPr>
        <p:spPr>
          <a:xfrm>
            <a:off x="11475720" y="6492240"/>
            <a:ext cx="320040" cy="164592"/>
          </a:xfrm>
          <a:prstGeom prst="rect">
            <a:avLst/>
          </a:prstGeom>
          <a:noFill/>
          <a:ln/>
        </p:spPr>
        <p:txBody>
          <a:bodyPr wrap="square" lIns="0" tIns="0" rIns="0" bIns="0" rtlCol="0" anchor="ctr"/>
          <a:lstStyle/>
          <a:p>
            <a:pPr algn="r" indent="0" marL="0">
              <a:buNone/>
            </a:pPr>
            <a:r>
              <a:rPr lang="en-US" sz="750" dirty="0">
                <a:solidFill>
                  <a:srgbClr val="6B7280"/>
                </a:solidFill>
                <a:latin typeface="Arial" pitchFamily="34" charset="0"/>
                <a:ea typeface="Arial" pitchFamily="34" charset="-122"/>
                <a:cs typeface="Arial"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3"/>
          </a:solidFill>
          <a:ln w="12700">
            <a:solidFill>
              <a:srgbClr val="0B1F33"/>
            </a:solidFill>
            <a:prstDash val="solid"/>
          </a:ln>
        </p:spPr>
        <p:txBody>
          <a:bodyPr/>
          <a:p/>
        </p:txBody>
      </p:sp>
      <p:sp>
        <p:nvSpPr>
          <p:cNvPr id="3" name="Text 1"/>
          <p:cNvSpPr/>
          <p:nvPr/>
        </p:nvSpPr>
        <p:spPr>
          <a:xfrm>
            <a:off x="411480" y="109728"/>
            <a:ext cx="8961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Class Imbalance Challenge</a:t>
            </a:r>
            <a:endParaRPr lang="en-US" sz="1300" dirty="0"/>
          </a:p>
        </p:txBody>
      </p:sp>
      <p:sp>
        <p:nvSpPr>
          <p:cNvPr id="4" name="Text 2"/>
          <p:cNvSpPr/>
          <p:nvPr/>
        </p:nvSpPr>
        <p:spPr>
          <a:xfrm>
            <a:off x="9692640" y="109728"/>
            <a:ext cx="2057400" cy="274320"/>
          </a:xfrm>
          <a:prstGeom prst="rect">
            <a:avLst/>
          </a:prstGeom>
          <a:noFill/>
          <a:ln/>
        </p:spPr>
        <p:txBody>
          <a:bodyPr wrap="square" lIns="0" tIns="0" rIns="0" bIns="0" rtlCol="0" anchor="ctr"/>
          <a:lstStyle/>
          <a:p>
            <a:pPr algn="r" indent="0" marL="0">
              <a:buNone/>
            </a:pPr>
            <a:r>
              <a:rPr lang="en-US" sz="900" dirty="0">
                <a:solidFill>
                  <a:srgbClr val="D9E2EC"/>
                </a:solidFill>
                <a:latin typeface="Arial" pitchFamily="34" charset="0"/>
                <a:ea typeface="Arial" pitchFamily="34" charset="-122"/>
                <a:cs typeface="Arial" pitchFamily="34" charset="-120"/>
              </a:rPr>
              <a:t>Evaluation</a:t>
            </a:r>
            <a:endParaRPr lang="en-US" sz="900" dirty="0"/>
          </a:p>
        </p:txBody>
      </p:sp>
      <p:sp>
        <p:nvSpPr>
          <p:cNvPr id="5" name="Text 3"/>
          <p:cNvSpPr/>
          <p:nvPr/>
        </p:nvSpPr>
        <p:spPr>
          <a:xfrm>
            <a:off x="594360" y="786384"/>
            <a:ext cx="10881360" cy="594360"/>
          </a:xfrm>
          <a:prstGeom prst="rect">
            <a:avLst/>
          </a:prstGeom>
          <a:noFill/>
          <a:ln/>
        </p:spPr>
        <p:txBody>
          <a:bodyPr wrap="square" lIns="254" tIns="254" rIns="254" bIns="254" rtlCol="0" anchor="ctr"/>
          <a:lstStyle/>
          <a:p>
            <a:pPr indent="0" marL="0">
              <a:buNone/>
            </a:pPr>
            <a:r>
              <a:rPr lang="en-US" sz="2800" b="1" dirty="0">
                <a:solidFill>
                  <a:srgbClr val="0B1F33"/>
                </a:solidFill>
                <a:latin typeface="Arial" pitchFamily="34" charset="0"/>
                <a:ea typeface="Arial" pitchFamily="34" charset="-122"/>
                <a:cs typeface="Arial" pitchFamily="34" charset="-120"/>
              </a:rPr>
              <a:t>A high-accuracy model can still miss fraud</a:t>
            </a:r>
            <a:endParaRPr lang="en-US" sz="2800" dirty="0"/>
          </a:p>
        </p:txBody>
      </p:sp>
      <p:sp>
        <p:nvSpPr>
          <p:cNvPr id="6" name="Text 4"/>
          <p:cNvSpPr/>
          <p:nvPr/>
        </p:nvSpPr>
        <p:spPr>
          <a:xfrm>
            <a:off x="621792" y="1399032"/>
            <a:ext cx="10424160" cy="301752"/>
          </a:xfrm>
          <a:prstGeom prst="rect">
            <a:avLst/>
          </a:prstGeom>
          <a:noFill/>
          <a:ln/>
        </p:spPr>
        <p:txBody>
          <a:bodyPr wrap="square" lIns="0" tIns="0" rIns="0" bIns="0" rtlCol="0" anchor="ctr"/>
          <a:lstStyle/>
          <a:p>
            <a:pPr indent="0" marL="0">
              <a:buNone/>
            </a:pPr>
            <a:r>
              <a:rPr lang="en-US" sz="1250" dirty="0">
                <a:solidFill>
                  <a:srgbClr val="5B6770"/>
                </a:solidFill>
                <a:latin typeface="Arial" pitchFamily="34" charset="0"/>
                <a:ea typeface="Arial" pitchFamily="34" charset="-122"/>
                <a:cs typeface="Arial" pitchFamily="34" charset="-120"/>
              </a:rPr>
              <a:t>With rare fraud, the evaluation strategy must emphasize positive-class performance.</a:t>
            </a:r>
            <a:endParaRPr lang="en-US" sz="1250" dirty="0"/>
          </a:p>
        </p:txBody>
      </p:sp>
      <p:sp>
        <p:nvSpPr>
          <p:cNvPr id="7" name="Text 5"/>
          <p:cNvSpPr/>
          <p:nvPr/>
        </p:nvSpPr>
        <p:spPr>
          <a:xfrm>
            <a:off x="822960" y="1828800"/>
            <a:ext cx="2743200" cy="274320"/>
          </a:xfrm>
          <a:prstGeom prst="rect">
            <a:avLst/>
          </a:prstGeom>
          <a:noFill/>
          <a:ln/>
        </p:spPr>
        <p:txBody>
          <a:bodyPr wrap="square" lIns="0" tIns="0" rIns="0" bIns="0" rtlCol="0" anchor="ctr"/>
          <a:lstStyle/>
          <a:p>
            <a:pPr indent="0" marL="0">
              <a:buNone/>
            </a:pPr>
            <a:r>
              <a:rPr lang="en-US" sz="1500" b="1" dirty="0">
                <a:solidFill>
                  <a:srgbClr val="0B1F33"/>
                </a:solidFill>
                <a:latin typeface="Arial" pitchFamily="34" charset="0"/>
                <a:ea typeface="Arial" pitchFamily="34" charset="-122"/>
                <a:cs typeface="Arial" pitchFamily="34" charset="-120"/>
              </a:rPr>
              <a:t>Class distribution</a:t>
            </a:r>
            <a:endParaRPr lang="en-US" sz="1500" dirty="0"/>
          </a:p>
        </p:txBody>
      </p:sp>
      <p:sp>
        <p:nvSpPr>
          <p:cNvPr id="8" name="Shape 6"/>
          <p:cNvSpPr/>
          <p:nvPr/>
        </p:nvSpPr>
        <p:spPr>
          <a:xfrm>
            <a:off x="822960" y="2331720"/>
            <a:ext cx="8138160" cy="411480"/>
          </a:xfrm>
          <a:prstGeom prst="rect">
            <a:avLst/>
          </a:prstGeom>
          <a:solidFill>
            <a:srgbClr val="1F4E79"/>
          </a:solidFill>
          <a:ln w="12700">
            <a:solidFill>
              <a:srgbClr val="1F4E79"/>
            </a:solidFill>
            <a:prstDash val="solid"/>
          </a:ln>
        </p:spPr>
        <p:txBody>
          <a:bodyPr/>
          <a:p/>
        </p:txBody>
      </p:sp>
      <p:sp>
        <p:nvSpPr>
          <p:cNvPr id="9" name="Shape 7"/>
          <p:cNvSpPr/>
          <p:nvPr/>
        </p:nvSpPr>
        <p:spPr>
          <a:xfrm>
            <a:off x="8961120" y="2331720"/>
            <a:ext cx="36576" cy="411480"/>
          </a:xfrm>
          <a:prstGeom prst="rect">
            <a:avLst/>
          </a:prstGeom>
          <a:solidFill>
            <a:srgbClr val="D9534F"/>
          </a:solidFill>
          <a:ln w="12700">
            <a:solidFill>
              <a:srgbClr val="D9534F"/>
            </a:solidFill>
            <a:prstDash val="solid"/>
          </a:ln>
        </p:spPr>
        <p:txBody>
          <a:bodyPr/>
          <a:p/>
        </p:txBody>
      </p:sp>
      <p:sp>
        <p:nvSpPr>
          <p:cNvPr id="10" name="Text 8"/>
          <p:cNvSpPr/>
          <p:nvPr/>
        </p:nvSpPr>
        <p:spPr>
          <a:xfrm>
            <a:off x="960120" y="2432304"/>
            <a:ext cx="2011680" cy="182880"/>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Non-Fraud ≈ 99.83%</a:t>
            </a:r>
            <a:endParaRPr lang="en-US" sz="900" dirty="0"/>
          </a:p>
        </p:txBody>
      </p:sp>
      <p:sp>
        <p:nvSpPr>
          <p:cNvPr id="11" name="Text 9"/>
          <p:cNvSpPr/>
          <p:nvPr/>
        </p:nvSpPr>
        <p:spPr>
          <a:xfrm>
            <a:off x="9189720" y="2432304"/>
            <a:ext cx="1371600" cy="182880"/>
          </a:xfrm>
          <a:prstGeom prst="rect">
            <a:avLst/>
          </a:prstGeom>
          <a:noFill/>
          <a:ln/>
        </p:spPr>
        <p:txBody>
          <a:bodyPr wrap="square" lIns="0" tIns="0" rIns="0" bIns="0" rtlCol="0" anchor="ctr"/>
          <a:lstStyle/>
          <a:p>
            <a:pPr indent="0" marL="0">
              <a:buNone/>
            </a:pPr>
            <a:r>
              <a:rPr lang="en-US" sz="900" dirty="0">
                <a:solidFill>
                  <a:srgbClr val="D9534F"/>
                </a:solidFill>
                <a:latin typeface="Arial" pitchFamily="34" charset="0"/>
                <a:ea typeface="Arial" pitchFamily="34" charset="-122"/>
                <a:cs typeface="Arial" pitchFamily="34" charset="-120"/>
              </a:rPr>
              <a:t>Fraud ≈ 0.17%</a:t>
            </a:r>
            <a:endParaRPr lang="en-US" sz="900" dirty="0"/>
          </a:p>
        </p:txBody>
      </p:sp>
      <p:sp>
        <p:nvSpPr>
          <p:cNvPr id="12" name="Shape 10"/>
          <p:cNvSpPr/>
          <p:nvPr/>
        </p:nvSpPr>
        <p:spPr>
          <a:xfrm>
            <a:off x="822960" y="3337560"/>
            <a:ext cx="3383280" cy="1143000"/>
          </a:xfrm>
          <a:prstGeom prst="roundRect">
            <a:avLst>
              <a:gd name="adj" fmla="val 6400"/>
            </a:avLst>
          </a:prstGeom>
          <a:solidFill>
            <a:srgbClr val="FFFFFF"/>
          </a:solidFill>
          <a:ln w="12700">
            <a:solidFill>
              <a:srgbClr val="D9E2EC"/>
            </a:solidFill>
            <a:prstDash val="solid"/>
          </a:ln>
        </p:spPr>
        <p:txBody>
          <a:bodyPr/>
          <a:p/>
        </p:txBody>
      </p:sp>
      <p:sp>
        <p:nvSpPr>
          <p:cNvPr id="13" name="Shape 11"/>
          <p:cNvSpPr/>
          <p:nvPr/>
        </p:nvSpPr>
        <p:spPr>
          <a:xfrm>
            <a:off x="822960" y="3337560"/>
            <a:ext cx="73152" cy="1143000"/>
          </a:xfrm>
          <a:prstGeom prst="rect">
            <a:avLst/>
          </a:prstGeom>
          <a:solidFill>
            <a:srgbClr val="F59E0B"/>
          </a:solidFill>
          <a:ln w="12700">
            <a:solidFill>
              <a:srgbClr val="F59E0B"/>
            </a:solidFill>
            <a:prstDash val="solid"/>
          </a:ln>
        </p:spPr>
        <p:txBody>
          <a:bodyPr/>
          <a:p/>
        </p:txBody>
      </p:sp>
      <p:sp>
        <p:nvSpPr>
          <p:cNvPr id="14" name="Text 12"/>
          <p:cNvSpPr/>
          <p:nvPr/>
        </p:nvSpPr>
        <p:spPr>
          <a:xfrm>
            <a:off x="1024128" y="3474720"/>
            <a:ext cx="30632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Metric risk</a:t>
            </a:r>
            <a:endParaRPr lang="en-US" sz="1250" dirty="0"/>
          </a:p>
        </p:txBody>
      </p:sp>
      <p:sp>
        <p:nvSpPr>
          <p:cNvPr id="15" name="Text 13"/>
          <p:cNvSpPr/>
          <p:nvPr/>
        </p:nvSpPr>
        <p:spPr>
          <a:xfrm>
            <a:off x="1024128" y="3840480"/>
            <a:ext cx="3063240" cy="50292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Accuracy can look excellent even when fraud is missed.</a:t>
            </a:r>
            <a:endParaRPr lang="en-US" sz="1050" dirty="0"/>
          </a:p>
        </p:txBody>
      </p:sp>
      <p:sp>
        <p:nvSpPr>
          <p:cNvPr id="16" name="Shape 14"/>
          <p:cNvSpPr/>
          <p:nvPr/>
        </p:nvSpPr>
        <p:spPr>
          <a:xfrm>
            <a:off x="4434840" y="3337560"/>
            <a:ext cx="3383280" cy="1143000"/>
          </a:xfrm>
          <a:prstGeom prst="roundRect">
            <a:avLst>
              <a:gd name="adj" fmla="val 6400"/>
            </a:avLst>
          </a:prstGeom>
          <a:solidFill>
            <a:srgbClr val="FFFFFF"/>
          </a:solidFill>
          <a:ln w="12700">
            <a:solidFill>
              <a:srgbClr val="D9E2EC"/>
            </a:solidFill>
            <a:prstDash val="solid"/>
          </a:ln>
        </p:spPr>
        <p:txBody>
          <a:bodyPr/>
          <a:p/>
        </p:txBody>
      </p:sp>
      <p:sp>
        <p:nvSpPr>
          <p:cNvPr id="17" name="Shape 15"/>
          <p:cNvSpPr/>
          <p:nvPr/>
        </p:nvSpPr>
        <p:spPr>
          <a:xfrm>
            <a:off x="4434840" y="3337560"/>
            <a:ext cx="73152" cy="1143000"/>
          </a:xfrm>
          <a:prstGeom prst="rect">
            <a:avLst/>
          </a:prstGeom>
          <a:solidFill>
            <a:srgbClr val="D9534F"/>
          </a:solidFill>
          <a:ln w="12700">
            <a:solidFill>
              <a:srgbClr val="D9534F"/>
            </a:solidFill>
            <a:prstDash val="solid"/>
          </a:ln>
        </p:spPr>
        <p:txBody>
          <a:bodyPr/>
          <a:p/>
        </p:txBody>
      </p:sp>
      <p:sp>
        <p:nvSpPr>
          <p:cNvPr id="18" name="Text 16"/>
          <p:cNvSpPr/>
          <p:nvPr/>
        </p:nvSpPr>
        <p:spPr>
          <a:xfrm>
            <a:off x="4636008" y="3474720"/>
            <a:ext cx="30632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Recall focus</a:t>
            </a:r>
            <a:endParaRPr lang="en-US" sz="1250" dirty="0"/>
          </a:p>
        </p:txBody>
      </p:sp>
      <p:sp>
        <p:nvSpPr>
          <p:cNvPr id="19" name="Text 17"/>
          <p:cNvSpPr/>
          <p:nvPr/>
        </p:nvSpPr>
        <p:spPr>
          <a:xfrm>
            <a:off x="4636008" y="3840480"/>
            <a:ext cx="3063240" cy="50292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Measures how much fraud the model catches.</a:t>
            </a:r>
            <a:endParaRPr lang="en-US" sz="1050" dirty="0"/>
          </a:p>
        </p:txBody>
      </p:sp>
      <p:sp>
        <p:nvSpPr>
          <p:cNvPr id="20" name="Shape 18"/>
          <p:cNvSpPr/>
          <p:nvPr/>
        </p:nvSpPr>
        <p:spPr>
          <a:xfrm>
            <a:off x="8046720" y="3337560"/>
            <a:ext cx="3383280" cy="1143000"/>
          </a:xfrm>
          <a:prstGeom prst="roundRect">
            <a:avLst>
              <a:gd name="adj" fmla="val 6400"/>
            </a:avLst>
          </a:prstGeom>
          <a:solidFill>
            <a:srgbClr val="FFFFFF"/>
          </a:solidFill>
          <a:ln w="12700">
            <a:solidFill>
              <a:srgbClr val="D9E2EC"/>
            </a:solidFill>
            <a:prstDash val="solid"/>
          </a:ln>
        </p:spPr>
        <p:txBody>
          <a:bodyPr/>
          <a:p/>
        </p:txBody>
      </p:sp>
      <p:sp>
        <p:nvSpPr>
          <p:cNvPr id="21" name="Shape 19"/>
          <p:cNvSpPr/>
          <p:nvPr/>
        </p:nvSpPr>
        <p:spPr>
          <a:xfrm>
            <a:off x="8046720" y="3337560"/>
            <a:ext cx="73152" cy="1143000"/>
          </a:xfrm>
          <a:prstGeom prst="rect">
            <a:avLst/>
          </a:prstGeom>
          <a:solidFill>
            <a:srgbClr val="00A6A6"/>
          </a:solidFill>
          <a:ln w="12700">
            <a:solidFill>
              <a:srgbClr val="00A6A6"/>
            </a:solidFill>
            <a:prstDash val="solid"/>
          </a:ln>
        </p:spPr>
        <p:txBody>
          <a:bodyPr/>
          <a:p/>
        </p:txBody>
      </p:sp>
      <p:sp>
        <p:nvSpPr>
          <p:cNvPr id="22" name="Text 20"/>
          <p:cNvSpPr/>
          <p:nvPr/>
        </p:nvSpPr>
        <p:spPr>
          <a:xfrm>
            <a:off x="8247888" y="3474720"/>
            <a:ext cx="30632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Precision focus</a:t>
            </a:r>
            <a:endParaRPr lang="en-US" sz="1250" dirty="0"/>
          </a:p>
        </p:txBody>
      </p:sp>
      <p:sp>
        <p:nvSpPr>
          <p:cNvPr id="23" name="Text 21"/>
          <p:cNvSpPr/>
          <p:nvPr/>
        </p:nvSpPr>
        <p:spPr>
          <a:xfrm>
            <a:off x="8247888" y="3840480"/>
            <a:ext cx="3063240" cy="50292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Measures how many fraud alerts are correct.</a:t>
            </a:r>
            <a:endParaRPr lang="en-US" sz="1050" dirty="0"/>
          </a:p>
        </p:txBody>
      </p:sp>
      <p:sp>
        <p:nvSpPr>
          <p:cNvPr id="24" name="Text 22"/>
          <p:cNvSpPr/>
          <p:nvPr/>
        </p:nvSpPr>
        <p:spPr>
          <a:xfrm>
            <a:off x="822960" y="5074920"/>
            <a:ext cx="10698480" cy="256032"/>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Selected evaluation metrics: precision, recall, F1-score, ROC-AUC, PR-AUC, and confusion matrix.</a:t>
            </a:r>
            <a:endParaRPr lang="en-US" sz="1300" dirty="0"/>
          </a:p>
        </p:txBody>
      </p:sp>
      <p:sp>
        <p:nvSpPr>
          <p:cNvPr id="25" name="Text 23"/>
          <p:cNvSpPr/>
          <p:nvPr/>
        </p:nvSpPr>
        <p:spPr>
          <a:xfrm>
            <a:off x="411480" y="6519672"/>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Credit Card Fraud Detection Capstone | Parviz Ali</a:t>
            </a:r>
            <a:endParaRPr lang="en-US" sz="750" dirty="0"/>
          </a:p>
        </p:txBody>
      </p:sp>
      <p:sp>
        <p:nvSpPr>
          <p:cNvPr id="26" name="Text 24"/>
          <p:cNvSpPr/>
          <p:nvPr/>
        </p:nvSpPr>
        <p:spPr>
          <a:xfrm>
            <a:off x="11475720" y="6492240"/>
            <a:ext cx="320040" cy="164592"/>
          </a:xfrm>
          <a:prstGeom prst="rect">
            <a:avLst/>
          </a:prstGeom>
          <a:noFill/>
          <a:ln/>
        </p:spPr>
        <p:txBody>
          <a:bodyPr wrap="square" lIns="0" tIns="0" rIns="0" bIns="0" rtlCol="0" anchor="ctr"/>
          <a:lstStyle/>
          <a:p>
            <a:pPr algn="r" indent="0" marL="0">
              <a:buNone/>
            </a:pPr>
            <a:r>
              <a:rPr lang="en-US" sz="750" dirty="0">
                <a:solidFill>
                  <a:srgbClr val="6B7280"/>
                </a:solidFill>
                <a:latin typeface="Arial" pitchFamily="34" charset="0"/>
                <a:ea typeface="Arial" pitchFamily="34" charset="-122"/>
                <a:cs typeface="Arial"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3"/>
          </a:solidFill>
          <a:ln w="12700">
            <a:solidFill>
              <a:srgbClr val="0B1F33"/>
            </a:solidFill>
            <a:prstDash val="solid"/>
          </a:ln>
        </p:spPr>
        <p:txBody>
          <a:bodyPr/>
          <a:p/>
        </p:txBody>
      </p:sp>
      <p:sp>
        <p:nvSpPr>
          <p:cNvPr id="3" name="Text 1"/>
          <p:cNvSpPr/>
          <p:nvPr/>
        </p:nvSpPr>
        <p:spPr>
          <a:xfrm>
            <a:off x="411480" y="109728"/>
            <a:ext cx="8961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Preprocessing Pipeline</a:t>
            </a:r>
            <a:endParaRPr lang="en-US" sz="1300" dirty="0"/>
          </a:p>
        </p:txBody>
      </p:sp>
      <p:sp>
        <p:nvSpPr>
          <p:cNvPr id="4" name="Text 2"/>
          <p:cNvSpPr/>
          <p:nvPr/>
        </p:nvSpPr>
        <p:spPr>
          <a:xfrm>
            <a:off x="9692640" y="109728"/>
            <a:ext cx="2057400" cy="274320"/>
          </a:xfrm>
          <a:prstGeom prst="rect">
            <a:avLst/>
          </a:prstGeom>
          <a:noFill/>
          <a:ln/>
        </p:spPr>
        <p:txBody>
          <a:bodyPr wrap="square" lIns="0" tIns="0" rIns="0" bIns="0" rtlCol="0" anchor="ctr"/>
          <a:lstStyle/>
          <a:p>
            <a:pPr algn="r" indent="0" marL="0">
              <a:buNone/>
            </a:pPr>
            <a:r>
              <a:rPr lang="en-US" sz="900" dirty="0">
                <a:solidFill>
                  <a:srgbClr val="D9E2EC"/>
                </a:solidFill>
                <a:latin typeface="Arial" pitchFamily="34" charset="0"/>
                <a:ea typeface="Arial" pitchFamily="34" charset="-122"/>
                <a:cs typeface="Arial" pitchFamily="34" charset="-120"/>
              </a:rPr>
              <a:t>Reproducibility</a:t>
            </a:r>
            <a:endParaRPr lang="en-US" sz="900" dirty="0"/>
          </a:p>
        </p:txBody>
      </p:sp>
      <p:sp>
        <p:nvSpPr>
          <p:cNvPr id="5" name="Text 3"/>
          <p:cNvSpPr/>
          <p:nvPr/>
        </p:nvSpPr>
        <p:spPr>
          <a:xfrm>
            <a:off x="594360" y="786384"/>
            <a:ext cx="10881360" cy="594360"/>
          </a:xfrm>
          <a:prstGeom prst="rect">
            <a:avLst/>
          </a:prstGeom>
          <a:noFill/>
          <a:ln/>
        </p:spPr>
        <p:txBody>
          <a:bodyPr wrap="square" lIns="254" tIns="254" rIns="254" bIns="254" rtlCol="0" anchor="ctr"/>
          <a:lstStyle/>
          <a:p>
            <a:pPr indent="0" marL="0">
              <a:buNone/>
            </a:pPr>
            <a:r>
              <a:rPr lang="en-US" sz="2800" b="1" dirty="0">
                <a:solidFill>
                  <a:srgbClr val="0B1F33"/>
                </a:solidFill>
                <a:latin typeface="Arial" pitchFamily="34" charset="0"/>
                <a:ea typeface="Arial" pitchFamily="34" charset="-122"/>
                <a:cs typeface="Arial" pitchFamily="34" charset="-120"/>
              </a:rPr>
              <a:t>One official split for fair model comparison</a:t>
            </a:r>
            <a:endParaRPr lang="en-US" sz="2800" dirty="0"/>
          </a:p>
        </p:txBody>
      </p:sp>
      <p:sp>
        <p:nvSpPr>
          <p:cNvPr id="6" name="Text 4"/>
          <p:cNvSpPr/>
          <p:nvPr/>
        </p:nvSpPr>
        <p:spPr>
          <a:xfrm>
            <a:off x="621792" y="1399032"/>
            <a:ext cx="10424160" cy="301752"/>
          </a:xfrm>
          <a:prstGeom prst="rect">
            <a:avLst/>
          </a:prstGeom>
          <a:noFill/>
          <a:ln/>
        </p:spPr>
        <p:txBody>
          <a:bodyPr wrap="square" lIns="0" tIns="0" rIns="0" bIns="0" rtlCol="0" anchor="ctr"/>
          <a:lstStyle/>
          <a:p>
            <a:pPr indent="0" marL="0">
              <a:buNone/>
            </a:pPr>
            <a:r>
              <a:rPr lang="en-US" sz="1250" dirty="0">
                <a:solidFill>
                  <a:srgbClr val="5B6770"/>
                </a:solidFill>
                <a:latin typeface="Arial" pitchFamily="34" charset="0"/>
                <a:ea typeface="Arial" pitchFamily="34" charset="-122"/>
                <a:cs typeface="Arial" pitchFamily="34" charset="-120"/>
              </a:rPr>
              <a:t>All models use the same processed data generated by src/preprocess.py.</a:t>
            </a:r>
            <a:endParaRPr lang="en-US" sz="1250" dirty="0"/>
          </a:p>
        </p:txBody>
      </p:sp>
      <p:sp>
        <p:nvSpPr>
          <p:cNvPr id="7" name="Shape 5"/>
          <p:cNvSpPr/>
          <p:nvPr/>
        </p:nvSpPr>
        <p:spPr>
          <a:xfrm>
            <a:off x="640080" y="2240280"/>
            <a:ext cx="1554480" cy="822960"/>
          </a:xfrm>
          <a:prstGeom prst="roundRect">
            <a:avLst>
              <a:gd name="adj" fmla="val 8889"/>
            </a:avLst>
          </a:prstGeom>
          <a:solidFill>
            <a:srgbClr val="F8FAFC"/>
          </a:solidFill>
          <a:ln w="12700">
            <a:solidFill>
              <a:srgbClr val="D9E2EC"/>
            </a:solidFill>
            <a:prstDash val="solid"/>
          </a:ln>
        </p:spPr>
        <p:txBody>
          <a:bodyPr/>
          <a:p/>
        </p:txBody>
      </p:sp>
      <p:sp>
        <p:nvSpPr>
          <p:cNvPr id="8" name="Text 6"/>
          <p:cNvSpPr/>
          <p:nvPr/>
        </p:nvSpPr>
        <p:spPr>
          <a:xfrm>
            <a:off x="722376" y="2350008"/>
            <a:ext cx="256032" cy="182880"/>
          </a:xfrm>
          <a:prstGeom prst="rect">
            <a:avLst/>
          </a:prstGeom>
          <a:noFill/>
          <a:ln/>
        </p:spPr>
        <p:txBody>
          <a:bodyPr wrap="square" lIns="0" tIns="0" rIns="0" bIns="0" rtlCol="0" anchor="ctr"/>
          <a:lstStyle/>
          <a:p>
            <a:pPr indent="0" marL="0">
              <a:buNone/>
            </a:pPr>
            <a:r>
              <a:rPr lang="en-US" sz="1000" b="1" dirty="0">
                <a:solidFill>
                  <a:srgbClr val="00A6A6"/>
                </a:solidFill>
                <a:latin typeface="Arial" pitchFamily="34" charset="0"/>
                <a:ea typeface="Arial" pitchFamily="34" charset="-122"/>
                <a:cs typeface="Arial" pitchFamily="34" charset="-120"/>
              </a:rPr>
              <a:t>1</a:t>
            </a:r>
            <a:endParaRPr lang="en-US" sz="1000" dirty="0"/>
          </a:p>
        </p:txBody>
      </p:sp>
      <p:sp>
        <p:nvSpPr>
          <p:cNvPr id="9" name="Text 7"/>
          <p:cNvSpPr/>
          <p:nvPr/>
        </p:nvSpPr>
        <p:spPr>
          <a:xfrm>
            <a:off x="804672" y="2606040"/>
            <a:ext cx="1234440" cy="256032"/>
          </a:xfrm>
          <a:prstGeom prst="rect">
            <a:avLst/>
          </a:prstGeom>
          <a:noFill/>
          <a:ln/>
        </p:spPr>
        <p:txBody>
          <a:bodyPr wrap="square" lIns="0" tIns="0" rIns="0" bIns="0" rtlCol="0" anchor="ctr">
            <a:normAutofit/>
          </a:bodyPr>
          <a:lstStyle/>
          <a:p>
            <a:pPr algn="ctr" indent="0" marL="0">
              <a:buNone/>
            </a:pPr>
            <a:r>
              <a:rPr lang="en-US" sz="930" b="1" dirty="0">
                <a:solidFill>
                  <a:srgbClr val="0B1F33"/>
                </a:solidFill>
                <a:latin typeface="Arial" pitchFamily="34" charset="0"/>
                <a:ea typeface="Arial" pitchFamily="34" charset="-122"/>
                <a:cs typeface="Arial" pitchFamily="34" charset="-120"/>
              </a:rPr>
              <a:t>Load raw data</a:t>
            </a:r>
            <a:endParaRPr lang="en-US" sz="930" dirty="0"/>
          </a:p>
        </p:txBody>
      </p:sp>
      <p:sp>
        <p:nvSpPr>
          <p:cNvPr id="10" name="Shape 8"/>
          <p:cNvSpPr/>
          <p:nvPr/>
        </p:nvSpPr>
        <p:spPr>
          <a:xfrm>
            <a:off x="2212848" y="2468880"/>
            <a:ext cx="219456" cy="274320"/>
          </a:xfrm>
          <a:prstGeom prst="chevron">
            <a:avLst/>
          </a:prstGeom>
          <a:solidFill>
            <a:srgbClr val="00A6A6"/>
          </a:solidFill>
          <a:ln w="12700">
            <a:solidFill>
              <a:srgbClr val="00A6A6"/>
            </a:solidFill>
            <a:prstDash val="solid"/>
          </a:ln>
        </p:spPr>
        <p:txBody>
          <a:bodyPr/>
          <a:p/>
        </p:txBody>
      </p:sp>
      <p:sp>
        <p:nvSpPr>
          <p:cNvPr id="11" name="Shape 9"/>
          <p:cNvSpPr/>
          <p:nvPr/>
        </p:nvSpPr>
        <p:spPr>
          <a:xfrm>
            <a:off x="2514600" y="2240280"/>
            <a:ext cx="1554480" cy="822960"/>
          </a:xfrm>
          <a:prstGeom prst="roundRect">
            <a:avLst>
              <a:gd name="adj" fmla="val 8889"/>
            </a:avLst>
          </a:prstGeom>
          <a:solidFill>
            <a:srgbClr val="F8FAFC"/>
          </a:solidFill>
          <a:ln w="12700">
            <a:solidFill>
              <a:srgbClr val="D9E2EC"/>
            </a:solidFill>
            <a:prstDash val="solid"/>
          </a:ln>
        </p:spPr>
        <p:txBody>
          <a:bodyPr/>
          <a:p/>
        </p:txBody>
      </p:sp>
      <p:sp>
        <p:nvSpPr>
          <p:cNvPr id="12" name="Text 10"/>
          <p:cNvSpPr/>
          <p:nvPr/>
        </p:nvSpPr>
        <p:spPr>
          <a:xfrm>
            <a:off x="2596896" y="2350008"/>
            <a:ext cx="256032" cy="182880"/>
          </a:xfrm>
          <a:prstGeom prst="rect">
            <a:avLst/>
          </a:prstGeom>
          <a:noFill/>
          <a:ln/>
        </p:spPr>
        <p:txBody>
          <a:bodyPr wrap="square" lIns="0" tIns="0" rIns="0" bIns="0" rtlCol="0" anchor="ctr"/>
          <a:lstStyle/>
          <a:p>
            <a:pPr indent="0" marL="0">
              <a:buNone/>
            </a:pPr>
            <a:r>
              <a:rPr lang="en-US" sz="1000" b="1" dirty="0">
                <a:solidFill>
                  <a:srgbClr val="00A6A6"/>
                </a:solidFill>
                <a:latin typeface="Arial" pitchFamily="34" charset="0"/>
                <a:ea typeface="Arial" pitchFamily="34" charset="-122"/>
                <a:cs typeface="Arial" pitchFamily="34" charset="-120"/>
              </a:rPr>
              <a:t>2</a:t>
            </a:r>
            <a:endParaRPr lang="en-US" sz="1000" dirty="0"/>
          </a:p>
        </p:txBody>
      </p:sp>
      <p:sp>
        <p:nvSpPr>
          <p:cNvPr id="13" name="Text 11"/>
          <p:cNvSpPr/>
          <p:nvPr/>
        </p:nvSpPr>
        <p:spPr>
          <a:xfrm>
            <a:off x="2679192" y="2606040"/>
            <a:ext cx="1234440" cy="256032"/>
          </a:xfrm>
          <a:prstGeom prst="rect">
            <a:avLst/>
          </a:prstGeom>
          <a:noFill/>
          <a:ln/>
        </p:spPr>
        <p:txBody>
          <a:bodyPr wrap="square" lIns="0" tIns="0" rIns="0" bIns="0" rtlCol="0" anchor="ctr">
            <a:normAutofit/>
          </a:bodyPr>
          <a:lstStyle/>
          <a:p>
            <a:pPr algn="ctr" indent="0" marL="0">
              <a:buNone/>
            </a:pPr>
            <a:r>
              <a:rPr lang="en-US" sz="930" b="1" dirty="0">
                <a:solidFill>
                  <a:srgbClr val="0B1F33"/>
                </a:solidFill>
                <a:latin typeface="Arial" pitchFamily="34" charset="0"/>
                <a:ea typeface="Arial" pitchFamily="34" charset="-122"/>
                <a:cs typeface="Arial" pitchFamily="34" charset="-120"/>
              </a:rPr>
              <a:t>Validate columns</a:t>
            </a:r>
            <a:endParaRPr lang="en-US" sz="930" dirty="0"/>
          </a:p>
        </p:txBody>
      </p:sp>
      <p:sp>
        <p:nvSpPr>
          <p:cNvPr id="14" name="Shape 12"/>
          <p:cNvSpPr/>
          <p:nvPr/>
        </p:nvSpPr>
        <p:spPr>
          <a:xfrm>
            <a:off x="4087368" y="2468880"/>
            <a:ext cx="219456" cy="274320"/>
          </a:xfrm>
          <a:prstGeom prst="chevron">
            <a:avLst/>
          </a:prstGeom>
          <a:solidFill>
            <a:srgbClr val="00A6A6"/>
          </a:solidFill>
          <a:ln w="12700">
            <a:solidFill>
              <a:srgbClr val="00A6A6"/>
            </a:solidFill>
            <a:prstDash val="solid"/>
          </a:ln>
        </p:spPr>
        <p:txBody>
          <a:bodyPr/>
          <a:p/>
        </p:txBody>
      </p:sp>
      <p:sp>
        <p:nvSpPr>
          <p:cNvPr id="15" name="Shape 13"/>
          <p:cNvSpPr/>
          <p:nvPr/>
        </p:nvSpPr>
        <p:spPr>
          <a:xfrm>
            <a:off x="4389120" y="2240280"/>
            <a:ext cx="1554480" cy="822960"/>
          </a:xfrm>
          <a:prstGeom prst="roundRect">
            <a:avLst>
              <a:gd name="adj" fmla="val 8889"/>
            </a:avLst>
          </a:prstGeom>
          <a:solidFill>
            <a:srgbClr val="F8FAFC"/>
          </a:solidFill>
          <a:ln w="12700">
            <a:solidFill>
              <a:srgbClr val="D9E2EC"/>
            </a:solidFill>
            <a:prstDash val="solid"/>
          </a:ln>
        </p:spPr>
        <p:txBody>
          <a:bodyPr/>
          <a:p/>
        </p:txBody>
      </p:sp>
      <p:sp>
        <p:nvSpPr>
          <p:cNvPr id="16" name="Text 14"/>
          <p:cNvSpPr/>
          <p:nvPr/>
        </p:nvSpPr>
        <p:spPr>
          <a:xfrm>
            <a:off x="4471416" y="2350008"/>
            <a:ext cx="256032" cy="182880"/>
          </a:xfrm>
          <a:prstGeom prst="rect">
            <a:avLst/>
          </a:prstGeom>
          <a:noFill/>
          <a:ln/>
        </p:spPr>
        <p:txBody>
          <a:bodyPr wrap="square" lIns="0" tIns="0" rIns="0" bIns="0" rtlCol="0" anchor="ctr"/>
          <a:lstStyle/>
          <a:p>
            <a:pPr indent="0" marL="0">
              <a:buNone/>
            </a:pPr>
            <a:r>
              <a:rPr lang="en-US" sz="1000" b="1" dirty="0">
                <a:solidFill>
                  <a:srgbClr val="00A6A6"/>
                </a:solidFill>
                <a:latin typeface="Arial" pitchFamily="34" charset="0"/>
                <a:ea typeface="Arial" pitchFamily="34" charset="-122"/>
                <a:cs typeface="Arial" pitchFamily="34" charset="-120"/>
              </a:rPr>
              <a:t>3</a:t>
            </a:r>
            <a:endParaRPr lang="en-US" sz="1000" dirty="0"/>
          </a:p>
        </p:txBody>
      </p:sp>
      <p:sp>
        <p:nvSpPr>
          <p:cNvPr id="17" name="Text 15"/>
          <p:cNvSpPr/>
          <p:nvPr/>
        </p:nvSpPr>
        <p:spPr>
          <a:xfrm>
            <a:off x="4553712" y="2606040"/>
            <a:ext cx="1234440" cy="256032"/>
          </a:xfrm>
          <a:prstGeom prst="rect">
            <a:avLst/>
          </a:prstGeom>
          <a:noFill/>
          <a:ln/>
        </p:spPr>
        <p:txBody>
          <a:bodyPr wrap="square" lIns="0" tIns="0" rIns="0" bIns="0" rtlCol="0" anchor="ctr">
            <a:normAutofit/>
          </a:bodyPr>
          <a:lstStyle/>
          <a:p>
            <a:pPr algn="ctr" indent="0" marL="0">
              <a:buNone/>
            </a:pPr>
            <a:r>
              <a:rPr lang="en-US" sz="930" b="1" dirty="0">
                <a:solidFill>
                  <a:srgbClr val="0B1F33"/>
                </a:solidFill>
                <a:latin typeface="Arial" pitchFamily="34" charset="0"/>
                <a:ea typeface="Arial" pitchFamily="34" charset="-122"/>
                <a:cs typeface="Arial" pitchFamily="34" charset="-120"/>
              </a:rPr>
              <a:t>Check missing values</a:t>
            </a:r>
            <a:endParaRPr lang="en-US" sz="930" dirty="0"/>
          </a:p>
        </p:txBody>
      </p:sp>
      <p:sp>
        <p:nvSpPr>
          <p:cNvPr id="18" name="Shape 16"/>
          <p:cNvSpPr/>
          <p:nvPr/>
        </p:nvSpPr>
        <p:spPr>
          <a:xfrm>
            <a:off x="5961888" y="2468880"/>
            <a:ext cx="219456" cy="274320"/>
          </a:xfrm>
          <a:prstGeom prst="chevron">
            <a:avLst/>
          </a:prstGeom>
          <a:solidFill>
            <a:srgbClr val="00A6A6"/>
          </a:solidFill>
          <a:ln w="12700">
            <a:solidFill>
              <a:srgbClr val="00A6A6"/>
            </a:solidFill>
            <a:prstDash val="solid"/>
          </a:ln>
        </p:spPr>
        <p:txBody>
          <a:bodyPr/>
          <a:p/>
        </p:txBody>
      </p:sp>
      <p:sp>
        <p:nvSpPr>
          <p:cNvPr id="19" name="Shape 17"/>
          <p:cNvSpPr/>
          <p:nvPr/>
        </p:nvSpPr>
        <p:spPr>
          <a:xfrm>
            <a:off x="6263640" y="2240280"/>
            <a:ext cx="1554480" cy="822960"/>
          </a:xfrm>
          <a:prstGeom prst="roundRect">
            <a:avLst>
              <a:gd name="adj" fmla="val 8889"/>
            </a:avLst>
          </a:prstGeom>
          <a:solidFill>
            <a:srgbClr val="F8FAFC"/>
          </a:solidFill>
          <a:ln w="12700">
            <a:solidFill>
              <a:srgbClr val="D9E2EC"/>
            </a:solidFill>
            <a:prstDash val="solid"/>
          </a:ln>
        </p:spPr>
        <p:txBody>
          <a:bodyPr/>
          <a:p/>
        </p:txBody>
      </p:sp>
      <p:sp>
        <p:nvSpPr>
          <p:cNvPr id="20" name="Text 18"/>
          <p:cNvSpPr/>
          <p:nvPr/>
        </p:nvSpPr>
        <p:spPr>
          <a:xfrm>
            <a:off x="6345936" y="2350008"/>
            <a:ext cx="256032" cy="182880"/>
          </a:xfrm>
          <a:prstGeom prst="rect">
            <a:avLst/>
          </a:prstGeom>
          <a:noFill/>
          <a:ln/>
        </p:spPr>
        <p:txBody>
          <a:bodyPr wrap="square" lIns="0" tIns="0" rIns="0" bIns="0" rtlCol="0" anchor="ctr"/>
          <a:lstStyle/>
          <a:p>
            <a:pPr indent="0" marL="0">
              <a:buNone/>
            </a:pPr>
            <a:r>
              <a:rPr lang="en-US" sz="1000" b="1" dirty="0">
                <a:solidFill>
                  <a:srgbClr val="00A6A6"/>
                </a:solidFill>
                <a:latin typeface="Arial" pitchFamily="34" charset="0"/>
                <a:ea typeface="Arial" pitchFamily="34" charset="-122"/>
                <a:cs typeface="Arial" pitchFamily="34" charset="-120"/>
              </a:rPr>
              <a:t>4</a:t>
            </a:r>
            <a:endParaRPr lang="en-US" sz="1000" dirty="0"/>
          </a:p>
        </p:txBody>
      </p:sp>
      <p:sp>
        <p:nvSpPr>
          <p:cNvPr id="21" name="Text 19"/>
          <p:cNvSpPr/>
          <p:nvPr/>
        </p:nvSpPr>
        <p:spPr>
          <a:xfrm>
            <a:off x="6428232" y="2606040"/>
            <a:ext cx="1234440" cy="256032"/>
          </a:xfrm>
          <a:prstGeom prst="rect">
            <a:avLst/>
          </a:prstGeom>
          <a:noFill/>
          <a:ln/>
        </p:spPr>
        <p:txBody>
          <a:bodyPr wrap="square" lIns="0" tIns="0" rIns="0" bIns="0" rtlCol="0" anchor="ctr">
            <a:normAutofit/>
          </a:bodyPr>
          <a:lstStyle/>
          <a:p>
            <a:pPr algn="ctr" indent="0" marL="0">
              <a:buNone/>
            </a:pPr>
            <a:r>
              <a:rPr lang="en-US" sz="930" b="1" dirty="0">
                <a:solidFill>
                  <a:srgbClr val="0B1F33"/>
                </a:solidFill>
                <a:latin typeface="Arial" pitchFamily="34" charset="0"/>
                <a:ea typeface="Arial" pitchFamily="34" charset="-122"/>
                <a:cs typeface="Arial" pitchFamily="34" charset="-120"/>
              </a:rPr>
              <a:t>Stratified split</a:t>
            </a:r>
            <a:endParaRPr lang="en-US" sz="930" dirty="0"/>
          </a:p>
        </p:txBody>
      </p:sp>
      <p:sp>
        <p:nvSpPr>
          <p:cNvPr id="22" name="Shape 20"/>
          <p:cNvSpPr/>
          <p:nvPr/>
        </p:nvSpPr>
        <p:spPr>
          <a:xfrm>
            <a:off x="7836408" y="2468880"/>
            <a:ext cx="219456" cy="274320"/>
          </a:xfrm>
          <a:prstGeom prst="chevron">
            <a:avLst/>
          </a:prstGeom>
          <a:solidFill>
            <a:srgbClr val="00A6A6"/>
          </a:solidFill>
          <a:ln w="12700">
            <a:solidFill>
              <a:srgbClr val="00A6A6"/>
            </a:solidFill>
            <a:prstDash val="solid"/>
          </a:ln>
        </p:spPr>
        <p:txBody>
          <a:bodyPr/>
          <a:p/>
        </p:txBody>
      </p:sp>
      <p:sp>
        <p:nvSpPr>
          <p:cNvPr id="23" name="Shape 21"/>
          <p:cNvSpPr/>
          <p:nvPr/>
        </p:nvSpPr>
        <p:spPr>
          <a:xfrm>
            <a:off x="8138160" y="2240280"/>
            <a:ext cx="1554480" cy="822960"/>
          </a:xfrm>
          <a:prstGeom prst="roundRect">
            <a:avLst>
              <a:gd name="adj" fmla="val 8889"/>
            </a:avLst>
          </a:prstGeom>
          <a:solidFill>
            <a:srgbClr val="E0F2FE"/>
          </a:solidFill>
          <a:ln w="12700">
            <a:solidFill>
              <a:srgbClr val="00A6A6"/>
            </a:solidFill>
            <a:prstDash val="solid"/>
          </a:ln>
        </p:spPr>
        <p:txBody>
          <a:bodyPr/>
          <a:p/>
        </p:txBody>
      </p:sp>
      <p:sp>
        <p:nvSpPr>
          <p:cNvPr id="24" name="Text 22"/>
          <p:cNvSpPr/>
          <p:nvPr/>
        </p:nvSpPr>
        <p:spPr>
          <a:xfrm>
            <a:off x="8220456" y="2350008"/>
            <a:ext cx="256032" cy="182880"/>
          </a:xfrm>
          <a:prstGeom prst="rect">
            <a:avLst/>
          </a:prstGeom>
          <a:noFill/>
          <a:ln/>
        </p:spPr>
        <p:txBody>
          <a:bodyPr wrap="square" lIns="0" tIns="0" rIns="0" bIns="0" rtlCol="0" anchor="ctr"/>
          <a:lstStyle/>
          <a:p>
            <a:pPr indent="0" marL="0">
              <a:buNone/>
            </a:pPr>
            <a:r>
              <a:rPr lang="en-US" sz="1000" b="1" dirty="0">
                <a:solidFill>
                  <a:srgbClr val="00A6A6"/>
                </a:solidFill>
                <a:latin typeface="Arial" pitchFamily="34" charset="0"/>
                <a:ea typeface="Arial" pitchFamily="34" charset="-122"/>
                <a:cs typeface="Arial" pitchFamily="34" charset="-120"/>
              </a:rPr>
              <a:t>5</a:t>
            </a:r>
            <a:endParaRPr lang="en-US" sz="1000" dirty="0"/>
          </a:p>
        </p:txBody>
      </p:sp>
      <p:sp>
        <p:nvSpPr>
          <p:cNvPr id="25" name="Text 23"/>
          <p:cNvSpPr/>
          <p:nvPr/>
        </p:nvSpPr>
        <p:spPr>
          <a:xfrm>
            <a:off x="8302752" y="2606040"/>
            <a:ext cx="1234440" cy="256032"/>
          </a:xfrm>
          <a:prstGeom prst="rect">
            <a:avLst/>
          </a:prstGeom>
          <a:noFill/>
          <a:ln/>
        </p:spPr>
        <p:txBody>
          <a:bodyPr wrap="square" lIns="0" tIns="0" rIns="0" bIns="0" rtlCol="0" anchor="ctr">
            <a:normAutofit/>
          </a:bodyPr>
          <a:lstStyle/>
          <a:p>
            <a:pPr algn="ctr" indent="0" marL="0">
              <a:buNone/>
            </a:pPr>
            <a:r>
              <a:rPr lang="en-US" sz="930" b="1" dirty="0">
                <a:solidFill>
                  <a:srgbClr val="0B1F33"/>
                </a:solidFill>
                <a:latin typeface="Arial" pitchFamily="34" charset="0"/>
                <a:ea typeface="Arial" pitchFamily="34" charset="-122"/>
                <a:cs typeface="Arial" pitchFamily="34" charset="-120"/>
              </a:rPr>
              <a:t>Fit scaler on train only</a:t>
            </a:r>
            <a:endParaRPr lang="en-US" sz="930" dirty="0"/>
          </a:p>
        </p:txBody>
      </p:sp>
      <p:sp>
        <p:nvSpPr>
          <p:cNvPr id="26" name="Shape 24"/>
          <p:cNvSpPr/>
          <p:nvPr/>
        </p:nvSpPr>
        <p:spPr>
          <a:xfrm>
            <a:off x="9710928" y="2468880"/>
            <a:ext cx="219456" cy="274320"/>
          </a:xfrm>
          <a:prstGeom prst="chevron">
            <a:avLst/>
          </a:prstGeom>
          <a:solidFill>
            <a:srgbClr val="00A6A6"/>
          </a:solidFill>
          <a:ln w="12700">
            <a:solidFill>
              <a:srgbClr val="00A6A6"/>
            </a:solidFill>
            <a:prstDash val="solid"/>
          </a:ln>
        </p:spPr>
        <p:txBody>
          <a:bodyPr/>
          <a:p/>
        </p:txBody>
      </p:sp>
      <p:sp>
        <p:nvSpPr>
          <p:cNvPr id="27" name="Shape 25"/>
          <p:cNvSpPr/>
          <p:nvPr/>
        </p:nvSpPr>
        <p:spPr>
          <a:xfrm>
            <a:off x="10012680" y="2240280"/>
            <a:ext cx="1554480" cy="822960"/>
          </a:xfrm>
          <a:prstGeom prst="roundRect">
            <a:avLst>
              <a:gd name="adj" fmla="val 8889"/>
            </a:avLst>
          </a:prstGeom>
          <a:solidFill>
            <a:srgbClr val="F8FAFC"/>
          </a:solidFill>
          <a:ln w="12700">
            <a:solidFill>
              <a:srgbClr val="D9E2EC"/>
            </a:solidFill>
            <a:prstDash val="solid"/>
          </a:ln>
        </p:spPr>
        <p:txBody>
          <a:bodyPr/>
          <a:p/>
        </p:txBody>
      </p:sp>
      <p:sp>
        <p:nvSpPr>
          <p:cNvPr id="28" name="Text 26"/>
          <p:cNvSpPr/>
          <p:nvPr/>
        </p:nvSpPr>
        <p:spPr>
          <a:xfrm>
            <a:off x="10094976" y="2350008"/>
            <a:ext cx="256032" cy="182880"/>
          </a:xfrm>
          <a:prstGeom prst="rect">
            <a:avLst/>
          </a:prstGeom>
          <a:noFill/>
          <a:ln/>
        </p:spPr>
        <p:txBody>
          <a:bodyPr wrap="square" lIns="0" tIns="0" rIns="0" bIns="0" rtlCol="0" anchor="ctr"/>
          <a:lstStyle/>
          <a:p>
            <a:pPr indent="0" marL="0">
              <a:buNone/>
            </a:pPr>
            <a:r>
              <a:rPr lang="en-US" sz="1000" b="1" dirty="0">
                <a:solidFill>
                  <a:srgbClr val="00A6A6"/>
                </a:solidFill>
                <a:latin typeface="Arial" pitchFamily="34" charset="0"/>
                <a:ea typeface="Arial" pitchFamily="34" charset="-122"/>
                <a:cs typeface="Arial" pitchFamily="34" charset="-120"/>
              </a:rPr>
              <a:t>6</a:t>
            </a:r>
            <a:endParaRPr lang="en-US" sz="1000" dirty="0"/>
          </a:p>
        </p:txBody>
      </p:sp>
      <p:sp>
        <p:nvSpPr>
          <p:cNvPr id="29" name="Text 27"/>
          <p:cNvSpPr/>
          <p:nvPr/>
        </p:nvSpPr>
        <p:spPr>
          <a:xfrm>
            <a:off x="10177272" y="2606040"/>
            <a:ext cx="1234440" cy="256032"/>
          </a:xfrm>
          <a:prstGeom prst="rect">
            <a:avLst/>
          </a:prstGeom>
          <a:noFill/>
          <a:ln/>
        </p:spPr>
        <p:txBody>
          <a:bodyPr wrap="square" lIns="0" tIns="0" rIns="0" bIns="0" rtlCol="0" anchor="ctr">
            <a:normAutofit/>
          </a:bodyPr>
          <a:lstStyle/>
          <a:p>
            <a:pPr algn="ctr" indent="0" marL="0">
              <a:buNone/>
            </a:pPr>
            <a:r>
              <a:rPr lang="en-US" sz="930" b="1" dirty="0">
                <a:solidFill>
                  <a:srgbClr val="0B1F33"/>
                </a:solidFill>
                <a:latin typeface="Arial" pitchFamily="34" charset="0"/>
                <a:ea typeface="Arial" pitchFamily="34" charset="-122"/>
                <a:cs typeface="Arial" pitchFamily="34" charset="-120"/>
              </a:rPr>
              <a:t>Save processed files</a:t>
            </a:r>
            <a:endParaRPr lang="en-US" sz="930" dirty="0"/>
          </a:p>
        </p:txBody>
      </p:sp>
      <p:sp>
        <p:nvSpPr>
          <p:cNvPr id="30" name="Shape 28"/>
          <p:cNvSpPr/>
          <p:nvPr/>
        </p:nvSpPr>
        <p:spPr>
          <a:xfrm>
            <a:off x="822960" y="3886200"/>
            <a:ext cx="5257800" cy="1051560"/>
          </a:xfrm>
          <a:prstGeom prst="roundRect">
            <a:avLst>
              <a:gd name="adj" fmla="val 6957"/>
            </a:avLst>
          </a:prstGeom>
          <a:solidFill>
            <a:srgbClr val="FFFFFF"/>
          </a:solidFill>
          <a:ln w="12700">
            <a:solidFill>
              <a:srgbClr val="D9E2EC"/>
            </a:solidFill>
            <a:prstDash val="solid"/>
          </a:ln>
        </p:spPr>
        <p:txBody>
          <a:bodyPr/>
          <a:p/>
        </p:txBody>
      </p:sp>
      <p:sp>
        <p:nvSpPr>
          <p:cNvPr id="31" name="Shape 29"/>
          <p:cNvSpPr/>
          <p:nvPr/>
        </p:nvSpPr>
        <p:spPr>
          <a:xfrm>
            <a:off x="822960" y="3886200"/>
            <a:ext cx="73152" cy="1051560"/>
          </a:xfrm>
          <a:prstGeom prst="rect">
            <a:avLst/>
          </a:prstGeom>
          <a:solidFill>
            <a:srgbClr val="00A6A6"/>
          </a:solidFill>
          <a:ln w="12700">
            <a:solidFill>
              <a:srgbClr val="00A6A6"/>
            </a:solidFill>
            <a:prstDash val="solid"/>
          </a:ln>
        </p:spPr>
        <p:txBody>
          <a:bodyPr/>
          <a:p/>
        </p:txBody>
      </p:sp>
      <p:sp>
        <p:nvSpPr>
          <p:cNvPr id="32" name="Text 30"/>
          <p:cNvSpPr/>
          <p:nvPr/>
        </p:nvSpPr>
        <p:spPr>
          <a:xfrm>
            <a:off x="1024128" y="4023360"/>
            <a:ext cx="493776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Leakage prevention</a:t>
            </a:r>
            <a:endParaRPr lang="en-US" sz="1250" dirty="0"/>
          </a:p>
        </p:txBody>
      </p:sp>
      <p:sp>
        <p:nvSpPr>
          <p:cNvPr id="33" name="Text 31"/>
          <p:cNvSpPr/>
          <p:nvPr/>
        </p:nvSpPr>
        <p:spPr>
          <a:xfrm>
            <a:off x="1024128" y="4389120"/>
            <a:ext cx="4937760" cy="41148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StandardScaler is fitted only on X_train and then applied to X_test.</a:t>
            </a:r>
            <a:endParaRPr lang="en-US" sz="1050" dirty="0"/>
          </a:p>
        </p:txBody>
      </p:sp>
      <p:sp>
        <p:nvSpPr>
          <p:cNvPr id="34" name="Shape 32"/>
          <p:cNvSpPr/>
          <p:nvPr/>
        </p:nvSpPr>
        <p:spPr>
          <a:xfrm>
            <a:off x="6263640" y="3886200"/>
            <a:ext cx="5257800" cy="1051560"/>
          </a:xfrm>
          <a:prstGeom prst="roundRect">
            <a:avLst>
              <a:gd name="adj" fmla="val 6957"/>
            </a:avLst>
          </a:prstGeom>
          <a:solidFill>
            <a:srgbClr val="FFFFFF"/>
          </a:solidFill>
          <a:ln w="12700">
            <a:solidFill>
              <a:srgbClr val="D9E2EC"/>
            </a:solidFill>
            <a:prstDash val="solid"/>
          </a:ln>
        </p:spPr>
        <p:txBody>
          <a:bodyPr/>
          <a:p/>
        </p:txBody>
      </p:sp>
      <p:sp>
        <p:nvSpPr>
          <p:cNvPr id="35" name="Shape 33"/>
          <p:cNvSpPr/>
          <p:nvPr/>
        </p:nvSpPr>
        <p:spPr>
          <a:xfrm>
            <a:off x="6263640" y="3886200"/>
            <a:ext cx="73152" cy="1051560"/>
          </a:xfrm>
          <a:prstGeom prst="rect">
            <a:avLst/>
          </a:prstGeom>
          <a:solidFill>
            <a:srgbClr val="1F4E79"/>
          </a:solidFill>
          <a:ln w="12700">
            <a:solidFill>
              <a:srgbClr val="1F4E79"/>
            </a:solidFill>
            <a:prstDash val="solid"/>
          </a:ln>
        </p:spPr>
        <p:txBody>
          <a:bodyPr/>
          <a:p/>
        </p:txBody>
      </p:sp>
      <p:sp>
        <p:nvSpPr>
          <p:cNvPr id="36" name="Text 34"/>
          <p:cNvSpPr/>
          <p:nvPr/>
        </p:nvSpPr>
        <p:spPr>
          <a:xfrm>
            <a:off x="6464808" y="4023360"/>
            <a:ext cx="493776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Fair comparison</a:t>
            </a:r>
            <a:endParaRPr lang="en-US" sz="1250" dirty="0"/>
          </a:p>
        </p:txBody>
      </p:sp>
      <p:sp>
        <p:nvSpPr>
          <p:cNvPr id="37" name="Text 35"/>
          <p:cNvSpPr/>
          <p:nvPr/>
        </p:nvSpPr>
        <p:spPr>
          <a:xfrm>
            <a:off x="6464808" y="4389120"/>
            <a:ext cx="4937760" cy="41148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No model creates its own split; all models use the official processed split.</a:t>
            </a:r>
            <a:endParaRPr lang="en-US" sz="1050" dirty="0"/>
          </a:p>
        </p:txBody>
      </p:sp>
      <p:sp>
        <p:nvSpPr>
          <p:cNvPr id="38" name="Text 36"/>
          <p:cNvSpPr/>
          <p:nvPr/>
        </p:nvSpPr>
        <p:spPr>
          <a:xfrm>
            <a:off x="411480" y="6519672"/>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Credit Card Fraud Detection Capstone | Parviz Ali</a:t>
            </a:r>
            <a:endParaRPr lang="en-US" sz="750" dirty="0"/>
          </a:p>
        </p:txBody>
      </p:sp>
      <p:sp>
        <p:nvSpPr>
          <p:cNvPr id="39" name="Text 37"/>
          <p:cNvSpPr/>
          <p:nvPr/>
        </p:nvSpPr>
        <p:spPr>
          <a:xfrm>
            <a:off x="11475720" y="6492240"/>
            <a:ext cx="320040" cy="164592"/>
          </a:xfrm>
          <a:prstGeom prst="rect">
            <a:avLst/>
          </a:prstGeom>
          <a:noFill/>
          <a:ln/>
        </p:spPr>
        <p:txBody>
          <a:bodyPr wrap="square" lIns="0" tIns="0" rIns="0" bIns="0" rtlCol="0" anchor="ctr"/>
          <a:lstStyle/>
          <a:p>
            <a:pPr algn="r" indent="0" marL="0">
              <a:buNone/>
            </a:pPr>
            <a:r>
              <a:rPr lang="en-US" sz="750" dirty="0">
                <a:solidFill>
                  <a:srgbClr val="6B7280"/>
                </a:solidFill>
                <a:latin typeface="Arial" pitchFamily="34" charset="0"/>
                <a:ea typeface="Arial" pitchFamily="34" charset="-122"/>
                <a:cs typeface="Arial" pitchFamily="34" charset="-120"/>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3"/>
          </a:solidFill>
          <a:ln w="12700">
            <a:solidFill>
              <a:srgbClr val="0B1F33"/>
            </a:solidFill>
            <a:prstDash val="solid"/>
          </a:ln>
        </p:spPr>
        <p:txBody>
          <a:bodyPr/>
          <a:p/>
        </p:txBody>
      </p:sp>
      <p:sp>
        <p:nvSpPr>
          <p:cNvPr id="3" name="Text 1"/>
          <p:cNvSpPr/>
          <p:nvPr/>
        </p:nvSpPr>
        <p:spPr>
          <a:xfrm>
            <a:off x="411480" y="109728"/>
            <a:ext cx="8961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Models Built</a:t>
            </a:r>
            <a:endParaRPr lang="en-US" sz="1300" dirty="0"/>
          </a:p>
        </p:txBody>
      </p:sp>
      <p:sp>
        <p:nvSpPr>
          <p:cNvPr id="4" name="Text 2"/>
          <p:cNvSpPr/>
          <p:nvPr/>
        </p:nvSpPr>
        <p:spPr>
          <a:xfrm>
            <a:off x="9692640" y="109728"/>
            <a:ext cx="2057400" cy="274320"/>
          </a:xfrm>
          <a:prstGeom prst="rect">
            <a:avLst/>
          </a:prstGeom>
          <a:noFill/>
          <a:ln/>
        </p:spPr>
        <p:txBody>
          <a:bodyPr wrap="square" lIns="0" tIns="0" rIns="0" bIns="0" rtlCol="0" anchor="ctr"/>
          <a:lstStyle/>
          <a:p>
            <a:pPr algn="r" indent="0" marL="0">
              <a:buNone/>
            </a:pPr>
            <a:r>
              <a:rPr lang="en-US" sz="900" dirty="0">
                <a:solidFill>
                  <a:srgbClr val="D9E2EC"/>
                </a:solidFill>
                <a:latin typeface="Arial" pitchFamily="34" charset="0"/>
                <a:ea typeface="Arial" pitchFamily="34" charset="-122"/>
                <a:cs typeface="Arial" pitchFamily="34" charset="-120"/>
              </a:rPr>
              <a:t>Modeling</a:t>
            </a:r>
            <a:endParaRPr lang="en-US" sz="900" dirty="0"/>
          </a:p>
        </p:txBody>
      </p:sp>
      <p:sp>
        <p:nvSpPr>
          <p:cNvPr id="5" name="Text 3"/>
          <p:cNvSpPr/>
          <p:nvPr/>
        </p:nvSpPr>
        <p:spPr>
          <a:xfrm>
            <a:off x="594360" y="786384"/>
            <a:ext cx="10881360" cy="594360"/>
          </a:xfrm>
          <a:prstGeom prst="rect">
            <a:avLst/>
          </a:prstGeom>
          <a:noFill/>
          <a:ln/>
        </p:spPr>
        <p:txBody>
          <a:bodyPr wrap="square" lIns="254" tIns="254" rIns="254" bIns="254" rtlCol="0" anchor="ctr"/>
          <a:lstStyle/>
          <a:p>
            <a:pPr indent="0" marL="0">
              <a:buNone/>
            </a:pPr>
            <a:r>
              <a:rPr lang="en-US" sz="2800" b="1" dirty="0">
                <a:solidFill>
                  <a:srgbClr val="0B1F33"/>
                </a:solidFill>
                <a:latin typeface="Arial" pitchFamily="34" charset="0"/>
                <a:ea typeface="Arial" pitchFamily="34" charset="-122"/>
                <a:cs typeface="Arial" pitchFamily="34" charset="-120"/>
              </a:rPr>
              <a:t>Three approaches were compared</a:t>
            </a:r>
            <a:endParaRPr lang="en-US" sz="2800" dirty="0"/>
          </a:p>
        </p:txBody>
      </p:sp>
      <p:sp>
        <p:nvSpPr>
          <p:cNvPr id="6" name="Text 4"/>
          <p:cNvSpPr/>
          <p:nvPr/>
        </p:nvSpPr>
        <p:spPr>
          <a:xfrm>
            <a:off x="621792" y="1399032"/>
            <a:ext cx="10424160" cy="301752"/>
          </a:xfrm>
          <a:prstGeom prst="rect">
            <a:avLst/>
          </a:prstGeom>
          <a:noFill/>
          <a:ln/>
        </p:spPr>
        <p:txBody>
          <a:bodyPr wrap="square" lIns="0" tIns="0" rIns="0" bIns="0" rtlCol="0" anchor="ctr"/>
          <a:lstStyle/>
          <a:p>
            <a:pPr indent="0" marL="0">
              <a:buNone/>
            </a:pPr>
            <a:r>
              <a:rPr lang="en-US" sz="1250" dirty="0">
                <a:solidFill>
                  <a:srgbClr val="5B6770"/>
                </a:solidFill>
                <a:latin typeface="Arial" pitchFamily="34" charset="0"/>
                <a:ea typeface="Arial" pitchFamily="34" charset="-122"/>
                <a:cs typeface="Arial" pitchFamily="34" charset="-120"/>
              </a:rPr>
              <a:t>Baseline, supervised learning, and anomaly detection.</a:t>
            </a:r>
            <a:endParaRPr lang="en-US" sz="1250" dirty="0"/>
          </a:p>
        </p:txBody>
      </p:sp>
      <p:sp>
        <p:nvSpPr>
          <p:cNvPr id="7" name="Shape 5"/>
          <p:cNvSpPr/>
          <p:nvPr/>
        </p:nvSpPr>
        <p:spPr>
          <a:xfrm>
            <a:off x="822960" y="1920240"/>
            <a:ext cx="3383280" cy="2148840"/>
          </a:xfrm>
          <a:prstGeom prst="roundRect">
            <a:avLst>
              <a:gd name="adj" fmla="val 3404"/>
            </a:avLst>
          </a:prstGeom>
          <a:solidFill>
            <a:srgbClr val="FFFFFF"/>
          </a:solidFill>
          <a:ln w="12700">
            <a:solidFill>
              <a:srgbClr val="D9E2EC"/>
            </a:solidFill>
            <a:prstDash val="solid"/>
          </a:ln>
        </p:spPr>
        <p:txBody>
          <a:bodyPr/>
          <a:p/>
        </p:txBody>
      </p:sp>
      <p:sp>
        <p:nvSpPr>
          <p:cNvPr id="8" name="Shape 6"/>
          <p:cNvSpPr/>
          <p:nvPr/>
        </p:nvSpPr>
        <p:spPr>
          <a:xfrm>
            <a:off x="822960" y="1920240"/>
            <a:ext cx="73152" cy="2148840"/>
          </a:xfrm>
          <a:prstGeom prst="rect">
            <a:avLst/>
          </a:prstGeom>
          <a:solidFill>
            <a:srgbClr val="F59E0B"/>
          </a:solidFill>
          <a:ln w="12700">
            <a:solidFill>
              <a:srgbClr val="F59E0B"/>
            </a:solidFill>
            <a:prstDash val="solid"/>
          </a:ln>
        </p:spPr>
        <p:txBody>
          <a:bodyPr/>
          <a:p/>
        </p:txBody>
      </p:sp>
      <p:sp>
        <p:nvSpPr>
          <p:cNvPr id="9" name="Text 7"/>
          <p:cNvSpPr/>
          <p:nvPr/>
        </p:nvSpPr>
        <p:spPr>
          <a:xfrm>
            <a:off x="1024128" y="2057400"/>
            <a:ext cx="30632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Logistic Regression Baseline</a:t>
            </a:r>
            <a:endParaRPr lang="en-US" sz="1250" dirty="0"/>
          </a:p>
        </p:txBody>
      </p:sp>
      <p:sp>
        <p:nvSpPr>
          <p:cNvPr id="10" name="Text 8"/>
          <p:cNvSpPr/>
          <p:nvPr/>
        </p:nvSpPr>
        <p:spPr>
          <a:xfrm>
            <a:off x="1024128" y="2423160"/>
            <a:ext cx="3063240" cy="150876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Simple supervised benchmark. Uses scaled features and class_weight="balanced" to address imbalance.</a:t>
            </a:r>
            <a:endParaRPr lang="en-US" sz="1050" dirty="0"/>
          </a:p>
          <a:p>
            <a:pPr indent="0" marL="0">
              <a:buNone/>
            </a:pP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File: src/train_logistic_baseline.py</a:t>
            </a:r>
            <a:endParaRPr lang="en-US" sz="1050" dirty="0"/>
          </a:p>
        </p:txBody>
      </p:sp>
      <p:sp>
        <p:nvSpPr>
          <p:cNvPr id="11" name="Shape 9"/>
          <p:cNvSpPr/>
          <p:nvPr/>
        </p:nvSpPr>
        <p:spPr>
          <a:xfrm>
            <a:off x="4434840" y="1920240"/>
            <a:ext cx="3383280" cy="2148840"/>
          </a:xfrm>
          <a:prstGeom prst="roundRect">
            <a:avLst>
              <a:gd name="adj" fmla="val 3404"/>
            </a:avLst>
          </a:prstGeom>
          <a:solidFill>
            <a:srgbClr val="FFFFFF"/>
          </a:solidFill>
          <a:ln w="12700">
            <a:solidFill>
              <a:srgbClr val="D9E2EC"/>
            </a:solidFill>
            <a:prstDash val="solid"/>
          </a:ln>
        </p:spPr>
        <p:txBody>
          <a:bodyPr/>
          <a:p/>
        </p:txBody>
      </p:sp>
      <p:sp>
        <p:nvSpPr>
          <p:cNvPr id="12" name="Shape 10"/>
          <p:cNvSpPr/>
          <p:nvPr/>
        </p:nvSpPr>
        <p:spPr>
          <a:xfrm>
            <a:off x="4434840" y="1920240"/>
            <a:ext cx="73152" cy="2148840"/>
          </a:xfrm>
          <a:prstGeom prst="rect">
            <a:avLst/>
          </a:prstGeom>
          <a:solidFill>
            <a:srgbClr val="00A6A6"/>
          </a:solidFill>
          <a:ln w="12700">
            <a:solidFill>
              <a:srgbClr val="00A6A6"/>
            </a:solidFill>
            <a:prstDash val="solid"/>
          </a:ln>
        </p:spPr>
        <p:txBody>
          <a:bodyPr/>
          <a:p/>
        </p:txBody>
      </p:sp>
      <p:sp>
        <p:nvSpPr>
          <p:cNvPr id="13" name="Text 11"/>
          <p:cNvSpPr/>
          <p:nvPr/>
        </p:nvSpPr>
        <p:spPr>
          <a:xfrm>
            <a:off x="4636008" y="2057400"/>
            <a:ext cx="30632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XGBoost Classifier</a:t>
            </a:r>
            <a:endParaRPr lang="en-US" sz="1250" dirty="0"/>
          </a:p>
        </p:txBody>
      </p:sp>
      <p:sp>
        <p:nvSpPr>
          <p:cNvPr id="14" name="Text 12"/>
          <p:cNvSpPr/>
          <p:nvPr/>
        </p:nvSpPr>
        <p:spPr>
          <a:xfrm>
            <a:off x="4636008" y="2423160"/>
            <a:ext cx="3063240" cy="150876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Strong tabular supervised model. Uses scale_pos_weight for class imbalance.</a:t>
            </a:r>
            <a:endParaRPr lang="en-US" sz="1050" dirty="0"/>
          </a:p>
          <a:p>
            <a:pPr indent="0" marL="0">
              <a:buNone/>
            </a:pP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File: src/train_xgboost.py</a:t>
            </a:r>
            <a:endParaRPr lang="en-US" sz="1050" dirty="0"/>
          </a:p>
        </p:txBody>
      </p:sp>
      <p:sp>
        <p:nvSpPr>
          <p:cNvPr id="15" name="Shape 13"/>
          <p:cNvSpPr/>
          <p:nvPr/>
        </p:nvSpPr>
        <p:spPr>
          <a:xfrm>
            <a:off x="8046720" y="1920240"/>
            <a:ext cx="3383280" cy="2148840"/>
          </a:xfrm>
          <a:prstGeom prst="roundRect">
            <a:avLst>
              <a:gd name="adj" fmla="val 3404"/>
            </a:avLst>
          </a:prstGeom>
          <a:solidFill>
            <a:srgbClr val="FFFFFF"/>
          </a:solidFill>
          <a:ln w="12700">
            <a:solidFill>
              <a:srgbClr val="D9E2EC"/>
            </a:solidFill>
            <a:prstDash val="solid"/>
          </a:ln>
        </p:spPr>
        <p:txBody>
          <a:bodyPr/>
          <a:p/>
        </p:txBody>
      </p:sp>
      <p:sp>
        <p:nvSpPr>
          <p:cNvPr id="16" name="Shape 14"/>
          <p:cNvSpPr/>
          <p:nvPr/>
        </p:nvSpPr>
        <p:spPr>
          <a:xfrm>
            <a:off x="8046720" y="1920240"/>
            <a:ext cx="73152" cy="2148840"/>
          </a:xfrm>
          <a:prstGeom prst="rect">
            <a:avLst/>
          </a:prstGeom>
          <a:solidFill>
            <a:srgbClr val="1F4E79"/>
          </a:solidFill>
          <a:ln w="12700">
            <a:solidFill>
              <a:srgbClr val="1F4E79"/>
            </a:solidFill>
            <a:prstDash val="solid"/>
          </a:ln>
        </p:spPr>
        <p:txBody>
          <a:bodyPr/>
          <a:p/>
        </p:txBody>
      </p:sp>
      <p:sp>
        <p:nvSpPr>
          <p:cNvPr id="17" name="Text 15"/>
          <p:cNvSpPr/>
          <p:nvPr/>
        </p:nvSpPr>
        <p:spPr>
          <a:xfrm>
            <a:off x="8247888" y="2057400"/>
            <a:ext cx="30632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Autoencoder</a:t>
            </a:r>
            <a:endParaRPr lang="en-US" sz="1250" dirty="0"/>
          </a:p>
        </p:txBody>
      </p:sp>
      <p:sp>
        <p:nvSpPr>
          <p:cNvPr id="18" name="Text 16"/>
          <p:cNvSpPr/>
          <p:nvPr/>
        </p:nvSpPr>
        <p:spPr>
          <a:xfrm>
            <a:off x="8247888" y="2423160"/>
            <a:ext cx="3063240" cy="150876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Anomaly detection benchmark. Trained only on non-fraud transactions and uses reconstruction error.</a:t>
            </a:r>
            <a:endParaRPr lang="en-US" sz="1050" dirty="0"/>
          </a:p>
          <a:p>
            <a:pPr indent="0" marL="0">
              <a:buNone/>
            </a:pP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File: src/train_autoencoder.py</a:t>
            </a:r>
            <a:endParaRPr lang="en-US" sz="1050" dirty="0"/>
          </a:p>
        </p:txBody>
      </p:sp>
      <p:sp>
        <p:nvSpPr>
          <p:cNvPr id="19" name="Shape 17"/>
          <p:cNvSpPr/>
          <p:nvPr/>
        </p:nvSpPr>
        <p:spPr>
          <a:xfrm>
            <a:off x="1188720" y="4754880"/>
            <a:ext cx="9784080" cy="594360"/>
          </a:xfrm>
          <a:prstGeom prst="roundRect">
            <a:avLst>
              <a:gd name="adj" fmla="val 12308"/>
            </a:avLst>
          </a:prstGeom>
          <a:solidFill>
            <a:srgbClr val="F4F6F8"/>
          </a:solidFill>
          <a:ln w="12700">
            <a:solidFill>
              <a:srgbClr val="D9E2EC"/>
            </a:solidFill>
            <a:prstDash val="solid"/>
          </a:ln>
        </p:spPr>
        <p:txBody>
          <a:bodyPr/>
          <a:p/>
        </p:txBody>
      </p:sp>
      <p:sp>
        <p:nvSpPr>
          <p:cNvPr id="20" name="Text 18"/>
          <p:cNvSpPr/>
          <p:nvPr/>
        </p:nvSpPr>
        <p:spPr>
          <a:xfrm>
            <a:off x="1417320" y="4937760"/>
            <a:ext cx="9326880" cy="228600"/>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Shared evaluation utility: src/evaluation.py  →  Standard output: reports/metrics_summary.csv</a:t>
            </a:r>
            <a:endParaRPr lang="en-US" sz="1200" dirty="0"/>
          </a:p>
        </p:txBody>
      </p:sp>
      <p:sp>
        <p:nvSpPr>
          <p:cNvPr id="21" name="Text 19"/>
          <p:cNvSpPr/>
          <p:nvPr/>
        </p:nvSpPr>
        <p:spPr>
          <a:xfrm>
            <a:off x="411480" y="6519672"/>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Credit Card Fraud Detection Capstone | Parviz Ali</a:t>
            </a:r>
            <a:endParaRPr lang="en-US" sz="750" dirty="0"/>
          </a:p>
        </p:txBody>
      </p:sp>
      <p:sp>
        <p:nvSpPr>
          <p:cNvPr id="22" name="Text 20"/>
          <p:cNvSpPr/>
          <p:nvPr/>
        </p:nvSpPr>
        <p:spPr>
          <a:xfrm>
            <a:off x="11475720" y="6492240"/>
            <a:ext cx="320040" cy="164592"/>
          </a:xfrm>
          <a:prstGeom prst="rect">
            <a:avLst/>
          </a:prstGeom>
          <a:noFill/>
          <a:ln/>
        </p:spPr>
        <p:txBody>
          <a:bodyPr wrap="square" lIns="0" tIns="0" rIns="0" bIns="0" rtlCol="0" anchor="ctr"/>
          <a:lstStyle/>
          <a:p>
            <a:pPr algn="r" indent="0" marL="0">
              <a:buNone/>
            </a:pPr>
            <a:r>
              <a:rPr lang="en-US" sz="750" dirty="0">
                <a:solidFill>
                  <a:srgbClr val="6B7280"/>
                </a:solidFill>
                <a:latin typeface="Arial" pitchFamily="34" charset="0"/>
                <a:ea typeface="Arial" pitchFamily="34" charset="-122"/>
                <a:cs typeface="Arial"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3"/>
          </a:solidFill>
          <a:ln w="12700">
            <a:solidFill>
              <a:srgbClr val="0B1F33"/>
            </a:solidFill>
            <a:prstDash val="solid"/>
          </a:ln>
        </p:spPr>
        <p:txBody>
          <a:bodyPr/>
          <a:p/>
        </p:txBody>
      </p:sp>
      <p:sp>
        <p:nvSpPr>
          <p:cNvPr id="3" name="Text 1"/>
          <p:cNvSpPr/>
          <p:nvPr/>
        </p:nvSpPr>
        <p:spPr>
          <a:xfrm>
            <a:off x="411480" y="109728"/>
            <a:ext cx="8961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Model Results</a:t>
            </a:r>
            <a:endParaRPr lang="en-US" sz="1300" dirty="0"/>
          </a:p>
        </p:txBody>
      </p:sp>
      <p:sp>
        <p:nvSpPr>
          <p:cNvPr id="4" name="Text 2"/>
          <p:cNvSpPr/>
          <p:nvPr/>
        </p:nvSpPr>
        <p:spPr>
          <a:xfrm>
            <a:off x="9692640" y="109728"/>
            <a:ext cx="2057400" cy="274320"/>
          </a:xfrm>
          <a:prstGeom prst="rect">
            <a:avLst/>
          </a:prstGeom>
          <a:noFill/>
          <a:ln/>
        </p:spPr>
        <p:txBody>
          <a:bodyPr wrap="square" lIns="0" tIns="0" rIns="0" bIns="0" rtlCol="0" anchor="ctr"/>
          <a:lstStyle/>
          <a:p>
            <a:pPr algn="r" indent="0" marL="0">
              <a:buNone/>
            </a:pPr>
            <a:r>
              <a:rPr lang="en-US" sz="900" dirty="0">
                <a:solidFill>
                  <a:srgbClr val="D9E2EC"/>
                </a:solidFill>
                <a:latin typeface="Arial" pitchFamily="34" charset="0"/>
                <a:ea typeface="Arial" pitchFamily="34" charset="-122"/>
                <a:cs typeface="Arial" pitchFamily="34" charset="-120"/>
              </a:rPr>
              <a:t>Comparison</a:t>
            </a:r>
            <a:endParaRPr lang="en-US" sz="900" dirty="0"/>
          </a:p>
        </p:txBody>
      </p:sp>
      <p:sp>
        <p:nvSpPr>
          <p:cNvPr id="5" name="Text 3"/>
          <p:cNvSpPr/>
          <p:nvPr/>
        </p:nvSpPr>
        <p:spPr>
          <a:xfrm>
            <a:off x="594360" y="786384"/>
            <a:ext cx="10881360" cy="594360"/>
          </a:xfrm>
          <a:prstGeom prst="rect">
            <a:avLst/>
          </a:prstGeom>
          <a:noFill/>
          <a:ln/>
        </p:spPr>
        <p:txBody>
          <a:bodyPr wrap="square" lIns="254" tIns="254" rIns="254" bIns="254" rtlCol="0" anchor="ctr"/>
          <a:lstStyle/>
          <a:p>
            <a:pPr indent="0" marL="0">
              <a:buNone/>
            </a:pPr>
            <a:r>
              <a:rPr lang="en-US" sz="2800" b="1" dirty="0">
                <a:solidFill>
                  <a:srgbClr val="0B1F33"/>
                </a:solidFill>
                <a:latin typeface="Arial" pitchFamily="34" charset="0"/>
                <a:ea typeface="Arial" pitchFamily="34" charset="-122"/>
                <a:cs typeface="Arial" pitchFamily="34" charset="-120"/>
              </a:rPr>
              <a:t>XGBoost had the best overall balance</a:t>
            </a:r>
            <a:endParaRPr lang="en-US" sz="2800" dirty="0"/>
          </a:p>
        </p:txBody>
      </p:sp>
      <p:sp>
        <p:nvSpPr>
          <p:cNvPr id="6" name="Text 4"/>
          <p:cNvSpPr/>
          <p:nvPr/>
        </p:nvSpPr>
        <p:spPr>
          <a:xfrm>
            <a:off x="621792" y="1399032"/>
            <a:ext cx="10424160" cy="301752"/>
          </a:xfrm>
          <a:prstGeom prst="rect">
            <a:avLst/>
          </a:prstGeom>
          <a:noFill/>
          <a:ln/>
        </p:spPr>
        <p:txBody>
          <a:bodyPr wrap="square" lIns="0" tIns="0" rIns="0" bIns="0" rtlCol="0" anchor="ctr"/>
          <a:lstStyle/>
          <a:p>
            <a:pPr indent="0" marL="0">
              <a:buNone/>
            </a:pPr>
            <a:r>
              <a:rPr lang="en-US" sz="1250" dirty="0">
                <a:solidFill>
                  <a:srgbClr val="5B6770"/>
                </a:solidFill>
                <a:latin typeface="Arial" pitchFamily="34" charset="0"/>
                <a:ea typeface="Arial" pitchFamily="34" charset="-122"/>
                <a:cs typeface="Arial" pitchFamily="34" charset="-120"/>
              </a:rPr>
              <a:t>Logistic Regression had the highest recall, but very low precision.</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828800"/>
          <a:ext cx="5943600" cy="1828800"/>
        </p:xfrm>
        <a:graphic>
          <a:graphicData uri="http://schemas.openxmlformats.org/drawingml/2006/table">
            <a:tbl>
              <a:tblPr/>
              <a:tblGrid>
                <a:gridCol w="2011680"/>
                <a:gridCol w="914400"/>
                <a:gridCol w="914400"/>
                <a:gridCol w="914400"/>
                <a:gridCol w="914400"/>
              </a:tblGrid>
              <a:tr h="384048">
                <a:tc>
                  <a:txBody>
                    <a:bodyPr/>
                    <a:lstStyle/>
                    <a:p>
                      <a:pPr indent="0" marL="0">
                        <a:buNone/>
                      </a:pPr>
                      <a:r>
                        <a:rPr lang="en-US" sz="1100" dirty="0">
                          <a:solidFill>
                            <a:srgbClr val="111827"/>
                          </a:solidFill>
                          <a:latin typeface="Arial" pitchFamily="34" charset="0"/>
                          <a:ea typeface="Arial" pitchFamily="34" charset="-122"/>
                          <a:cs typeface="Arial" pitchFamily="34" charset="-120"/>
                        </a:rPr>
                        <a:t>Model</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Precision</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Recall</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F1-score</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PR-AUC</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11827"/>
                          </a:solidFill>
                          <a:latin typeface="Arial" pitchFamily="34" charset="0"/>
                          <a:ea typeface="Arial" pitchFamily="34" charset="-122"/>
                          <a:cs typeface="Arial" pitchFamily="34" charset="-120"/>
                        </a:rPr>
                        <a:t>Logistic Regression</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0.0610</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0.9184</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0.1144</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0.7190</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11827"/>
                          </a:solidFill>
                          <a:latin typeface="Arial" pitchFamily="34" charset="0"/>
                          <a:ea typeface="Arial" pitchFamily="34" charset="-122"/>
                          <a:cs typeface="Arial" pitchFamily="34" charset="-120"/>
                        </a:rPr>
                        <a:t>XGBoost</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0.5478</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0.8776</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0.6745</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0.8547</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11827"/>
                          </a:solidFill>
                          <a:latin typeface="Arial" pitchFamily="34" charset="0"/>
                          <a:ea typeface="Arial" pitchFamily="34" charset="-122"/>
                          <a:cs typeface="Arial" pitchFamily="34" charset="-120"/>
                        </a:rPr>
                        <a:t>Autoencoder</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0.1781</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0.6633</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0.2808</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100" dirty="0">
                          <a:solidFill>
                            <a:srgbClr val="111827"/>
                          </a:solidFill>
                          <a:latin typeface="Arial" pitchFamily="34" charset="0"/>
                          <a:ea typeface="Arial" pitchFamily="34" charset="-122"/>
                          <a:cs typeface="Arial" pitchFamily="34" charset="-120"/>
                        </a:rPr>
                        <a:t>0.3800</a:t>
                      </a:r>
                      <a:endParaRPr lang="en-US" sz="1100" dirty="0">
                        <a:latin typeface="Arial" charset="0"/>
                        <a:ea typeface="Arial" charset="0"/>
                        <a:cs typeface="Arial" charset="0"/>
                      </a:endParaRPr>
                    </a:p>
                  </a:txBody>
                  <a:tcPr marL="73152" marR="73152" marT="73152" marB="73152" anchor="mid">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bl>
          </a:graphicData>
        </a:graphic>
      </p:graphicFrame>
      <p:sp>
        <p:nvSpPr>
          <p:cNvPr id="8" name="Text 5"/>
          <p:cNvSpPr/>
          <p:nvPr/>
        </p:nvSpPr>
        <p:spPr>
          <a:xfrm>
            <a:off x="7315200" y="1783080"/>
            <a:ext cx="3200400" cy="274320"/>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PR-AUC comparison</a:t>
            </a:r>
            <a:endParaRPr lang="en-US" sz="1400" dirty="0"/>
          </a:p>
        </p:txBody>
      </p:sp>
      <p:sp>
        <p:nvSpPr>
          <p:cNvPr id="9" name="Text 6"/>
          <p:cNvSpPr/>
          <p:nvPr/>
        </p:nvSpPr>
        <p:spPr>
          <a:xfrm>
            <a:off x="7315200" y="2377440"/>
            <a:ext cx="1097280" cy="182880"/>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Logistic</a:t>
            </a:r>
            <a:endParaRPr lang="en-US" sz="900" dirty="0"/>
          </a:p>
        </p:txBody>
      </p:sp>
      <p:sp>
        <p:nvSpPr>
          <p:cNvPr id="10" name="Shape 7"/>
          <p:cNvSpPr/>
          <p:nvPr/>
        </p:nvSpPr>
        <p:spPr>
          <a:xfrm>
            <a:off x="8458200" y="2331720"/>
            <a:ext cx="1775125" cy="292608"/>
          </a:xfrm>
          <a:prstGeom prst="rect">
            <a:avLst/>
          </a:prstGeom>
          <a:solidFill>
            <a:srgbClr val="F59E0B"/>
          </a:solidFill>
          <a:ln w="12700">
            <a:solidFill>
              <a:srgbClr val="F59E0B"/>
            </a:solidFill>
            <a:prstDash val="solid"/>
          </a:ln>
        </p:spPr>
        <p:txBody>
          <a:bodyPr/>
          <a:p/>
        </p:txBody>
      </p:sp>
      <p:sp>
        <p:nvSpPr>
          <p:cNvPr id="11" name="Text 8"/>
          <p:cNvSpPr/>
          <p:nvPr/>
        </p:nvSpPr>
        <p:spPr>
          <a:xfrm>
            <a:off x="10324765" y="2377440"/>
            <a:ext cx="640080" cy="182880"/>
          </a:xfrm>
          <a:prstGeom prst="rect">
            <a:avLst/>
          </a:prstGeom>
          <a:noFill/>
          <a:ln/>
        </p:spPr>
        <p:txBody>
          <a:bodyPr wrap="square" lIns="0" tIns="0" rIns="0" bIns="0" rtlCol="0" anchor="ctr"/>
          <a:lstStyle/>
          <a:p>
            <a:pPr indent="0" marL="0">
              <a:buNone/>
            </a:pPr>
            <a:r>
              <a:rPr lang="en-US" sz="850" dirty="0">
                <a:solidFill>
                  <a:srgbClr val="111827"/>
                </a:solidFill>
                <a:latin typeface="Arial" pitchFamily="34" charset="0"/>
                <a:ea typeface="Arial" pitchFamily="34" charset="-122"/>
                <a:cs typeface="Arial" pitchFamily="34" charset="-120"/>
              </a:rPr>
              <a:t>0.7190</a:t>
            </a:r>
            <a:endParaRPr lang="en-US" sz="850" dirty="0"/>
          </a:p>
        </p:txBody>
      </p:sp>
      <p:sp>
        <p:nvSpPr>
          <p:cNvPr id="12" name="Text 9"/>
          <p:cNvSpPr/>
          <p:nvPr/>
        </p:nvSpPr>
        <p:spPr>
          <a:xfrm>
            <a:off x="7315200" y="2971800"/>
            <a:ext cx="1097280" cy="182880"/>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XGBoost</a:t>
            </a:r>
            <a:endParaRPr lang="en-US" sz="900" dirty="0"/>
          </a:p>
        </p:txBody>
      </p:sp>
      <p:sp>
        <p:nvSpPr>
          <p:cNvPr id="13" name="Shape 10"/>
          <p:cNvSpPr/>
          <p:nvPr/>
        </p:nvSpPr>
        <p:spPr>
          <a:xfrm>
            <a:off x="8458200" y="2926080"/>
            <a:ext cx="2110152" cy="292608"/>
          </a:xfrm>
          <a:prstGeom prst="rect">
            <a:avLst/>
          </a:prstGeom>
          <a:solidFill>
            <a:srgbClr val="00A6A6"/>
          </a:solidFill>
          <a:ln w="12700">
            <a:solidFill>
              <a:srgbClr val="00A6A6"/>
            </a:solidFill>
            <a:prstDash val="solid"/>
          </a:ln>
        </p:spPr>
        <p:txBody>
          <a:bodyPr/>
          <a:p/>
        </p:txBody>
      </p:sp>
      <p:sp>
        <p:nvSpPr>
          <p:cNvPr id="14" name="Text 11"/>
          <p:cNvSpPr/>
          <p:nvPr/>
        </p:nvSpPr>
        <p:spPr>
          <a:xfrm>
            <a:off x="10659792" y="2971800"/>
            <a:ext cx="640080" cy="182880"/>
          </a:xfrm>
          <a:prstGeom prst="rect">
            <a:avLst/>
          </a:prstGeom>
          <a:noFill/>
          <a:ln/>
        </p:spPr>
        <p:txBody>
          <a:bodyPr wrap="square" lIns="0" tIns="0" rIns="0" bIns="0" rtlCol="0" anchor="ctr"/>
          <a:lstStyle/>
          <a:p>
            <a:pPr indent="0" marL="0">
              <a:buNone/>
            </a:pPr>
            <a:r>
              <a:rPr lang="en-US" sz="850" dirty="0">
                <a:solidFill>
                  <a:srgbClr val="111827"/>
                </a:solidFill>
                <a:latin typeface="Arial" pitchFamily="34" charset="0"/>
                <a:ea typeface="Arial" pitchFamily="34" charset="-122"/>
                <a:cs typeface="Arial" pitchFamily="34" charset="-120"/>
              </a:rPr>
              <a:t>0.8547</a:t>
            </a:r>
            <a:endParaRPr lang="en-US" sz="850" dirty="0"/>
          </a:p>
        </p:txBody>
      </p:sp>
      <p:sp>
        <p:nvSpPr>
          <p:cNvPr id="15" name="Text 12"/>
          <p:cNvSpPr/>
          <p:nvPr/>
        </p:nvSpPr>
        <p:spPr>
          <a:xfrm>
            <a:off x="7315200" y="3566160"/>
            <a:ext cx="1097280" cy="182880"/>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Autoencoder</a:t>
            </a:r>
            <a:endParaRPr lang="en-US" sz="900" dirty="0"/>
          </a:p>
        </p:txBody>
      </p:sp>
      <p:sp>
        <p:nvSpPr>
          <p:cNvPr id="16" name="Shape 13"/>
          <p:cNvSpPr/>
          <p:nvPr/>
        </p:nvSpPr>
        <p:spPr>
          <a:xfrm>
            <a:off x="8458200" y="3520440"/>
            <a:ext cx="938174" cy="292608"/>
          </a:xfrm>
          <a:prstGeom prst="rect">
            <a:avLst/>
          </a:prstGeom>
          <a:solidFill>
            <a:srgbClr val="1F4E79"/>
          </a:solidFill>
          <a:ln w="12700">
            <a:solidFill>
              <a:srgbClr val="1F4E79"/>
            </a:solidFill>
            <a:prstDash val="solid"/>
          </a:ln>
        </p:spPr>
        <p:txBody>
          <a:bodyPr/>
          <a:p/>
        </p:txBody>
      </p:sp>
      <p:sp>
        <p:nvSpPr>
          <p:cNvPr id="17" name="Text 14"/>
          <p:cNvSpPr/>
          <p:nvPr/>
        </p:nvSpPr>
        <p:spPr>
          <a:xfrm>
            <a:off x="9487814" y="3566160"/>
            <a:ext cx="640080" cy="182880"/>
          </a:xfrm>
          <a:prstGeom prst="rect">
            <a:avLst/>
          </a:prstGeom>
          <a:noFill/>
          <a:ln/>
        </p:spPr>
        <p:txBody>
          <a:bodyPr wrap="square" lIns="0" tIns="0" rIns="0" bIns="0" rtlCol="0" anchor="ctr"/>
          <a:lstStyle/>
          <a:p>
            <a:pPr indent="0" marL="0">
              <a:buNone/>
            </a:pPr>
            <a:r>
              <a:rPr lang="en-US" sz="850" dirty="0">
                <a:solidFill>
                  <a:srgbClr val="111827"/>
                </a:solidFill>
                <a:latin typeface="Arial" pitchFamily="34" charset="0"/>
                <a:ea typeface="Arial" pitchFamily="34" charset="-122"/>
                <a:cs typeface="Arial" pitchFamily="34" charset="-120"/>
              </a:rPr>
              <a:t>0.3800</a:t>
            </a:r>
            <a:endParaRPr lang="en-US" sz="850" dirty="0"/>
          </a:p>
        </p:txBody>
      </p:sp>
      <p:sp>
        <p:nvSpPr>
          <p:cNvPr id="18" name="Shape 15"/>
          <p:cNvSpPr/>
          <p:nvPr/>
        </p:nvSpPr>
        <p:spPr>
          <a:xfrm>
            <a:off x="822960" y="4389120"/>
            <a:ext cx="10698480" cy="822960"/>
          </a:xfrm>
          <a:prstGeom prst="roundRect">
            <a:avLst>
              <a:gd name="adj" fmla="val 8889"/>
            </a:avLst>
          </a:prstGeom>
          <a:solidFill>
            <a:srgbClr val="FFFFFF"/>
          </a:solidFill>
          <a:ln w="12700">
            <a:solidFill>
              <a:srgbClr val="D9E2EC"/>
            </a:solidFill>
            <a:prstDash val="solid"/>
          </a:ln>
        </p:spPr>
        <p:txBody>
          <a:bodyPr/>
          <a:p/>
        </p:txBody>
      </p:sp>
      <p:sp>
        <p:nvSpPr>
          <p:cNvPr id="19" name="Shape 16"/>
          <p:cNvSpPr/>
          <p:nvPr/>
        </p:nvSpPr>
        <p:spPr>
          <a:xfrm>
            <a:off x="822960" y="4389120"/>
            <a:ext cx="73152" cy="822960"/>
          </a:xfrm>
          <a:prstGeom prst="rect">
            <a:avLst/>
          </a:prstGeom>
          <a:solidFill>
            <a:srgbClr val="00A6A6"/>
          </a:solidFill>
          <a:ln w="12700">
            <a:solidFill>
              <a:srgbClr val="00A6A6"/>
            </a:solidFill>
            <a:prstDash val="solid"/>
          </a:ln>
        </p:spPr>
        <p:txBody>
          <a:bodyPr/>
          <a:p/>
        </p:txBody>
      </p:sp>
      <p:sp>
        <p:nvSpPr>
          <p:cNvPr id="20" name="Text 17"/>
          <p:cNvSpPr/>
          <p:nvPr/>
        </p:nvSpPr>
        <p:spPr>
          <a:xfrm>
            <a:off x="1024128" y="4526280"/>
            <a:ext cx="103784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Interpretation</a:t>
            </a:r>
            <a:endParaRPr lang="en-US" sz="1250" dirty="0"/>
          </a:p>
        </p:txBody>
      </p:sp>
      <p:sp>
        <p:nvSpPr>
          <p:cNvPr id="21" name="Text 18"/>
          <p:cNvSpPr/>
          <p:nvPr/>
        </p:nvSpPr>
        <p:spPr>
          <a:xfrm>
            <a:off x="1024128" y="4892040"/>
            <a:ext cx="10378440" cy="18288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XGBoost had the strongest PR-AUC and F1-score, with high recall and much better precision than Logistic Regression.</a:t>
            </a:r>
            <a:endParaRPr lang="en-US" sz="1050" dirty="0"/>
          </a:p>
        </p:txBody>
      </p:sp>
      <p:sp>
        <p:nvSpPr>
          <p:cNvPr id="22" name="Text 19"/>
          <p:cNvSpPr/>
          <p:nvPr/>
        </p:nvSpPr>
        <p:spPr>
          <a:xfrm>
            <a:off x="411480" y="6519672"/>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Credit Card Fraud Detection Capstone | Parviz Ali</a:t>
            </a:r>
            <a:endParaRPr lang="en-US" sz="750" dirty="0"/>
          </a:p>
        </p:txBody>
      </p:sp>
      <p:sp>
        <p:nvSpPr>
          <p:cNvPr id="23" name="Text 20"/>
          <p:cNvSpPr/>
          <p:nvPr/>
        </p:nvSpPr>
        <p:spPr>
          <a:xfrm>
            <a:off x="11475720" y="6492240"/>
            <a:ext cx="320040" cy="164592"/>
          </a:xfrm>
          <a:prstGeom prst="rect">
            <a:avLst/>
          </a:prstGeom>
          <a:noFill/>
          <a:ln/>
        </p:spPr>
        <p:txBody>
          <a:bodyPr wrap="square" lIns="0" tIns="0" rIns="0" bIns="0" rtlCol="0" anchor="ctr"/>
          <a:lstStyle/>
          <a:p>
            <a:pPr algn="r" indent="0" marL="0">
              <a:buNone/>
            </a:pPr>
            <a:r>
              <a:rPr lang="en-US" sz="750" dirty="0">
                <a:solidFill>
                  <a:srgbClr val="6B7280"/>
                </a:solidFill>
                <a:latin typeface="Arial" pitchFamily="34" charset="0"/>
                <a:ea typeface="Arial" pitchFamily="34" charset="-122"/>
                <a:cs typeface="Arial" pitchFamily="34" charset="-120"/>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3"/>
          </a:solidFill>
          <a:ln w="12700">
            <a:solidFill>
              <a:srgbClr val="0B1F33"/>
            </a:solidFill>
            <a:prstDash val="solid"/>
          </a:ln>
        </p:spPr>
        <p:txBody>
          <a:bodyPr/>
          <a:p/>
        </p:txBody>
      </p:sp>
      <p:sp>
        <p:nvSpPr>
          <p:cNvPr id="3" name="Text 1"/>
          <p:cNvSpPr/>
          <p:nvPr/>
        </p:nvSpPr>
        <p:spPr>
          <a:xfrm>
            <a:off x="411480" y="109728"/>
            <a:ext cx="8961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Final Model Recommendation</a:t>
            </a:r>
            <a:endParaRPr lang="en-US" sz="1300" dirty="0"/>
          </a:p>
        </p:txBody>
      </p:sp>
      <p:sp>
        <p:nvSpPr>
          <p:cNvPr id="4" name="Text 2"/>
          <p:cNvSpPr/>
          <p:nvPr/>
        </p:nvSpPr>
        <p:spPr>
          <a:xfrm>
            <a:off x="9692640" y="109728"/>
            <a:ext cx="2057400" cy="274320"/>
          </a:xfrm>
          <a:prstGeom prst="rect">
            <a:avLst/>
          </a:prstGeom>
          <a:noFill/>
          <a:ln/>
        </p:spPr>
        <p:txBody>
          <a:bodyPr wrap="square" lIns="0" tIns="0" rIns="0" bIns="0" rtlCol="0" anchor="ctr"/>
          <a:lstStyle/>
          <a:p>
            <a:pPr algn="r" indent="0" marL="0">
              <a:buNone/>
            </a:pPr>
            <a:r>
              <a:rPr lang="en-US" sz="900" dirty="0">
                <a:solidFill>
                  <a:srgbClr val="D9E2EC"/>
                </a:solidFill>
                <a:latin typeface="Arial" pitchFamily="34" charset="0"/>
                <a:ea typeface="Arial" pitchFamily="34" charset="-122"/>
                <a:cs typeface="Arial" pitchFamily="34" charset="-120"/>
              </a:rPr>
              <a:t>Decision</a:t>
            </a:r>
            <a:endParaRPr lang="en-US" sz="900" dirty="0"/>
          </a:p>
        </p:txBody>
      </p:sp>
      <p:sp>
        <p:nvSpPr>
          <p:cNvPr id="5" name="Text 3"/>
          <p:cNvSpPr/>
          <p:nvPr/>
        </p:nvSpPr>
        <p:spPr>
          <a:xfrm>
            <a:off x="594360" y="786384"/>
            <a:ext cx="10881360" cy="594360"/>
          </a:xfrm>
          <a:prstGeom prst="rect">
            <a:avLst/>
          </a:prstGeom>
          <a:noFill/>
          <a:ln/>
        </p:spPr>
        <p:txBody>
          <a:bodyPr wrap="square" lIns="254" tIns="254" rIns="254" bIns="254" rtlCol="0" anchor="ctr"/>
          <a:lstStyle/>
          <a:p>
            <a:pPr indent="0" marL="0">
              <a:buNone/>
            </a:pPr>
            <a:r>
              <a:rPr lang="en-US" sz="2800" b="1" dirty="0">
                <a:solidFill>
                  <a:srgbClr val="0B1F33"/>
                </a:solidFill>
                <a:latin typeface="Arial" pitchFamily="34" charset="0"/>
                <a:ea typeface="Arial" pitchFamily="34" charset="-122"/>
                <a:cs typeface="Arial" pitchFamily="34" charset="-120"/>
              </a:rPr>
              <a:t>Recommended final model: XGBoost</a:t>
            </a:r>
            <a:endParaRPr lang="en-US" sz="2800" dirty="0"/>
          </a:p>
        </p:txBody>
      </p:sp>
      <p:sp>
        <p:nvSpPr>
          <p:cNvPr id="6" name="Text 4"/>
          <p:cNvSpPr/>
          <p:nvPr/>
        </p:nvSpPr>
        <p:spPr>
          <a:xfrm>
            <a:off x="621792" y="1399032"/>
            <a:ext cx="10424160" cy="301752"/>
          </a:xfrm>
          <a:prstGeom prst="rect">
            <a:avLst/>
          </a:prstGeom>
          <a:noFill/>
          <a:ln/>
        </p:spPr>
        <p:txBody>
          <a:bodyPr wrap="square" lIns="0" tIns="0" rIns="0" bIns="0" rtlCol="0" anchor="ctr"/>
          <a:lstStyle/>
          <a:p>
            <a:pPr indent="0" marL="0">
              <a:buNone/>
            </a:pPr>
            <a:r>
              <a:rPr lang="en-US" sz="1250" dirty="0">
                <a:solidFill>
                  <a:srgbClr val="5B6770"/>
                </a:solidFill>
                <a:latin typeface="Arial" pitchFamily="34" charset="0"/>
                <a:ea typeface="Arial" pitchFamily="34" charset="-122"/>
                <a:cs typeface="Arial" pitchFamily="34" charset="-120"/>
              </a:rPr>
              <a:t>Best balance of catching fraud and controlling false alerts.</a:t>
            </a:r>
            <a:endParaRPr lang="en-US" sz="1250" dirty="0"/>
          </a:p>
        </p:txBody>
      </p:sp>
      <p:sp>
        <p:nvSpPr>
          <p:cNvPr id="7" name="Shape 5"/>
          <p:cNvSpPr/>
          <p:nvPr/>
        </p:nvSpPr>
        <p:spPr>
          <a:xfrm>
            <a:off x="822960" y="1828800"/>
            <a:ext cx="5212080" cy="2286000"/>
          </a:xfrm>
          <a:prstGeom prst="roundRect">
            <a:avLst>
              <a:gd name="adj" fmla="val 3200"/>
            </a:avLst>
          </a:prstGeom>
          <a:solidFill>
            <a:srgbClr val="E0F2FE"/>
          </a:solidFill>
          <a:ln w="15240">
            <a:solidFill>
              <a:srgbClr val="00A6A6"/>
            </a:solidFill>
            <a:prstDash val="solid"/>
          </a:ln>
        </p:spPr>
        <p:txBody>
          <a:bodyPr/>
          <a:p/>
        </p:txBody>
      </p:sp>
      <p:sp>
        <p:nvSpPr>
          <p:cNvPr id="8" name="Text 6"/>
          <p:cNvSpPr/>
          <p:nvPr/>
        </p:nvSpPr>
        <p:spPr>
          <a:xfrm>
            <a:off x="1097280" y="2057400"/>
            <a:ext cx="2011680" cy="27432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Why XGBoost?</a:t>
            </a:r>
            <a:endParaRPr lang="en-US" sz="1600" dirty="0"/>
          </a:p>
        </p:txBody>
      </p:sp>
      <p:sp>
        <p:nvSpPr>
          <p:cNvPr id="9" name="Text 7"/>
          <p:cNvSpPr/>
          <p:nvPr/>
        </p:nvSpPr>
        <p:spPr>
          <a:xfrm>
            <a:off x="1143000" y="2542032"/>
            <a:ext cx="4572000" cy="1143000"/>
          </a:xfrm>
          <a:prstGeom prst="rect">
            <a:avLst/>
          </a:prstGeom>
          <a:noFill/>
          <a:ln/>
        </p:spPr>
        <p:txBody>
          <a:bodyPr wrap="square" lIns="635" tIns="635" rIns="635" bIns="635" rtlCol="0" anchor="ctr">
            <a:normAutofit/>
          </a:bodyPr>
          <a:lstStyle/>
          <a:p>
            <a:r>
              <a:rPr lang="en-US" sz="1200" dirty="0">
                <a:solidFill>
                  <a:srgbClr val="111827"/>
                </a:solidFill>
                <a:latin typeface="Arial" pitchFamily="34" charset="0"/>
                <a:ea typeface="Arial" pitchFamily="34" charset="-122"/>
                <a:cs typeface="Arial" pitchFamily="34" charset="-120"/>
              </a:rPr>
              <a:t>Best F1-score: 0.6745</a:t>
            </a:r>
            <a:endParaRPr lang="en-US" sz="1200" dirty="0"/>
          </a:p>
          <a:p>
            <a:r>
              <a:rPr lang="en-US" sz="1200" dirty="0">
                <a:solidFill>
                  <a:srgbClr val="111827"/>
                </a:solidFill>
                <a:latin typeface="Arial" pitchFamily="34" charset="0"/>
                <a:ea typeface="Arial" pitchFamily="34" charset="-122"/>
                <a:cs typeface="Arial" pitchFamily="34" charset="-120"/>
              </a:rPr>
              <a:t>Best PR-AUC: 0.8547</a:t>
            </a:r>
            <a:endParaRPr lang="en-US" sz="1200" dirty="0"/>
          </a:p>
          <a:p>
            <a:r>
              <a:rPr lang="en-US" sz="1200" dirty="0">
                <a:solidFill>
                  <a:srgbClr val="111827"/>
                </a:solidFill>
                <a:latin typeface="Arial" pitchFamily="34" charset="0"/>
                <a:ea typeface="Arial" pitchFamily="34" charset="-122"/>
                <a:cs typeface="Arial" pitchFamily="34" charset="-120"/>
              </a:rPr>
              <a:t>High recall: 0.8776</a:t>
            </a:r>
            <a:endParaRPr lang="en-US" sz="1200" dirty="0"/>
          </a:p>
          <a:p>
            <a:r>
              <a:rPr lang="en-US" sz="1200" dirty="0">
                <a:solidFill>
                  <a:srgbClr val="111827"/>
                </a:solidFill>
                <a:latin typeface="Arial" pitchFamily="34" charset="0"/>
                <a:ea typeface="Arial" pitchFamily="34" charset="-122"/>
                <a:cs typeface="Arial" pitchFamily="34" charset="-120"/>
              </a:rPr>
              <a:t>Better precision than baseline</a:t>
            </a:r>
            <a:endParaRPr lang="en-US" sz="1200" dirty="0"/>
          </a:p>
          <a:p>
            <a:r>
              <a:rPr lang="en-US" sz="1200" dirty="0">
                <a:solidFill>
                  <a:srgbClr val="111827"/>
                </a:solidFill>
                <a:latin typeface="Arial" pitchFamily="34" charset="0"/>
                <a:ea typeface="Arial" pitchFamily="34" charset="-122"/>
                <a:cs typeface="Arial" pitchFamily="34" charset="-120"/>
              </a:rPr>
              <a:t>Fewer false positives than Autoencoder</a:t>
            </a:r>
            <a:endParaRPr lang="en-US" sz="1200" dirty="0"/>
          </a:p>
        </p:txBody>
      </p:sp>
      <p:sp>
        <p:nvSpPr>
          <p:cNvPr id="10" name="Shape 8"/>
          <p:cNvSpPr/>
          <p:nvPr/>
        </p:nvSpPr>
        <p:spPr>
          <a:xfrm>
            <a:off x="6492240" y="1828800"/>
            <a:ext cx="4754880" cy="2286000"/>
          </a:xfrm>
          <a:prstGeom prst="roundRect">
            <a:avLst>
              <a:gd name="adj" fmla="val 3200"/>
            </a:avLst>
          </a:prstGeom>
          <a:solidFill>
            <a:srgbClr val="FFFFFF"/>
          </a:solidFill>
          <a:ln w="12700">
            <a:solidFill>
              <a:srgbClr val="D9E2EC"/>
            </a:solidFill>
            <a:prstDash val="solid"/>
          </a:ln>
        </p:spPr>
        <p:txBody>
          <a:bodyPr/>
          <a:p/>
        </p:txBody>
      </p:sp>
      <p:sp>
        <p:nvSpPr>
          <p:cNvPr id="11" name="Text 9"/>
          <p:cNvSpPr/>
          <p:nvPr/>
        </p:nvSpPr>
        <p:spPr>
          <a:xfrm>
            <a:off x="6812280" y="2103120"/>
            <a:ext cx="2011680" cy="256032"/>
          </a:xfrm>
          <a:prstGeom prst="rect">
            <a:avLst/>
          </a:prstGeom>
          <a:noFill/>
          <a:ln/>
        </p:spPr>
        <p:txBody>
          <a:bodyPr wrap="square" lIns="0" tIns="0" rIns="0" bIns="0" rtlCol="0" anchor="ctr"/>
          <a:lstStyle/>
          <a:p>
            <a:pPr indent="0" marL="0">
              <a:buNone/>
            </a:pPr>
            <a:r>
              <a:rPr lang="en-US" sz="1500" b="1" dirty="0">
                <a:solidFill>
                  <a:srgbClr val="0B1F33"/>
                </a:solidFill>
                <a:latin typeface="Arial" pitchFamily="34" charset="0"/>
                <a:ea typeface="Arial" pitchFamily="34" charset="-122"/>
                <a:cs typeface="Arial" pitchFamily="34" charset="-120"/>
              </a:rPr>
              <a:t>Model artifact</a:t>
            </a:r>
            <a:endParaRPr lang="en-US" sz="1500" dirty="0"/>
          </a:p>
        </p:txBody>
      </p:sp>
      <p:sp>
        <p:nvSpPr>
          <p:cNvPr id="12" name="Text 10"/>
          <p:cNvSpPr/>
          <p:nvPr/>
        </p:nvSpPr>
        <p:spPr>
          <a:xfrm>
            <a:off x="6812280" y="2651760"/>
            <a:ext cx="4069080" cy="411480"/>
          </a:xfrm>
          <a:prstGeom prst="rect">
            <a:avLst/>
          </a:prstGeom>
          <a:noFill/>
          <a:ln/>
        </p:spPr>
        <p:txBody>
          <a:bodyPr wrap="square" lIns="254" tIns="254" rIns="254" bIns="254" rtlCol="0" anchor="ctr">
            <a:normAutofit/>
          </a:bodyPr>
          <a:lstStyle/>
          <a:p>
            <a:pPr indent="0" marL="0">
              <a:buNone/>
            </a:pPr>
            <a:r>
              <a:rPr lang="en-US" sz="1200" dirty="0">
                <a:solidFill>
                  <a:srgbClr val="00A6A6"/>
                </a:solidFill>
                <a:latin typeface="Arial" pitchFamily="34" charset="0"/>
                <a:ea typeface="Arial" pitchFamily="34" charset="-122"/>
                <a:cs typeface="Arial" pitchFamily="34" charset="-120"/>
              </a:rPr>
              <a:t>model_artifacts/xgboost_fraud_model.joblib</a:t>
            </a:r>
            <a:endParaRPr lang="en-US" sz="1200" dirty="0"/>
          </a:p>
        </p:txBody>
      </p:sp>
      <p:sp>
        <p:nvSpPr>
          <p:cNvPr id="13" name="Text 11"/>
          <p:cNvSpPr/>
          <p:nvPr/>
        </p:nvSpPr>
        <p:spPr>
          <a:xfrm>
            <a:off x="6812280" y="3291840"/>
            <a:ext cx="3931920" cy="320040"/>
          </a:xfrm>
          <a:prstGeom prst="rect">
            <a:avLst/>
          </a:prstGeom>
          <a:noFill/>
          <a:ln/>
        </p:spPr>
        <p:txBody>
          <a:bodyPr wrap="square" lIns="0" tIns="0" rIns="0" bIns="0" rtlCol="0" anchor="ctr"/>
          <a:lstStyle/>
          <a:p>
            <a:pPr indent="0" marL="0">
              <a:buNone/>
            </a:pPr>
            <a:r>
              <a:rPr lang="en-US" sz="1150" dirty="0">
                <a:solidFill>
                  <a:srgbClr val="5B6770"/>
                </a:solidFill>
                <a:latin typeface="Arial" pitchFamily="34" charset="0"/>
                <a:ea typeface="Arial" pitchFamily="34" charset="-122"/>
                <a:cs typeface="Arial" pitchFamily="34" charset="-120"/>
              </a:rPr>
              <a:t>Selected for future inference and deployment planning.</a:t>
            </a:r>
            <a:endParaRPr lang="en-US" sz="1150" dirty="0"/>
          </a:p>
        </p:txBody>
      </p:sp>
      <p:sp>
        <p:nvSpPr>
          <p:cNvPr id="14" name="Text 12"/>
          <p:cNvSpPr/>
          <p:nvPr/>
        </p:nvSpPr>
        <p:spPr>
          <a:xfrm>
            <a:off x="822960" y="4892040"/>
            <a:ext cx="10607040" cy="320040"/>
          </a:xfrm>
          <a:prstGeom prst="rect">
            <a:avLst/>
          </a:prstGeom>
          <a:noFill/>
          <a:ln/>
        </p:spPr>
        <p:txBody>
          <a:bodyPr wrap="square" lIns="0" tIns="0" rIns="0" bIns="0" rtlCol="0" anchor="ctr"/>
          <a:lstStyle/>
          <a:p>
            <a:pPr algn="ctr" indent="0" marL="0">
              <a:buNone/>
            </a:pPr>
            <a:r>
              <a:rPr lang="en-US" sz="1400" b="1" dirty="0">
                <a:solidFill>
                  <a:srgbClr val="0B1F33"/>
                </a:solidFill>
                <a:latin typeface="Arial" pitchFamily="34" charset="0"/>
                <a:ea typeface="Arial" pitchFamily="34" charset="-122"/>
                <a:cs typeface="Arial" pitchFamily="34" charset="-120"/>
              </a:rPr>
              <a:t>Final decision: XGBoost provides the strongest practical fraud detection performance for this capstone.</a:t>
            </a:r>
            <a:endParaRPr lang="en-US" sz="1400" dirty="0"/>
          </a:p>
        </p:txBody>
      </p:sp>
      <p:sp>
        <p:nvSpPr>
          <p:cNvPr id="15" name="Text 13"/>
          <p:cNvSpPr/>
          <p:nvPr/>
        </p:nvSpPr>
        <p:spPr>
          <a:xfrm>
            <a:off x="411480" y="6519672"/>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Credit Card Fraud Detection Capstone | Parviz Ali</a:t>
            </a:r>
            <a:endParaRPr lang="en-US" sz="750" dirty="0"/>
          </a:p>
        </p:txBody>
      </p:sp>
      <p:sp>
        <p:nvSpPr>
          <p:cNvPr id="16" name="Text 14"/>
          <p:cNvSpPr/>
          <p:nvPr/>
        </p:nvSpPr>
        <p:spPr>
          <a:xfrm>
            <a:off x="11475720" y="6492240"/>
            <a:ext cx="320040" cy="164592"/>
          </a:xfrm>
          <a:prstGeom prst="rect">
            <a:avLst/>
          </a:prstGeom>
          <a:noFill/>
          <a:ln/>
        </p:spPr>
        <p:txBody>
          <a:bodyPr wrap="square" lIns="0" tIns="0" rIns="0" bIns="0" rtlCol="0" anchor="ctr"/>
          <a:lstStyle/>
          <a:p>
            <a:pPr algn="r" indent="0" marL="0">
              <a:buNone/>
            </a:pPr>
            <a:r>
              <a:rPr lang="en-US" sz="750" dirty="0">
                <a:solidFill>
                  <a:srgbClr val="6B7280"/>
                </a:solidFill>
                <a:latin typeface="Arial" pitchFamily="34" charset="0"/>
                <a:ea typeface="Arial" pitchFamily="34" charset="-122"/>
                <a:cs typeface="Arial"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3"/>
          </a:solidFill>
          <a:ln w="12700">
            <a:solidFill>
              <a:srgbClr val="0B1F33"/>
            </a:solidFill>
            <a:prstDash val="solid"/>
          </a:ln>
        </p:spPr>
        <p:txBody>
          <a:bodyPr/>
          <a:p/>
        </p:txBody>
      </p:sp>
      <p:sp>
        <p:nvSpPr>
          <p:cNvPr id="3" name="Text 1"/>
          <p:cNvSpPr/>
          <p:nvPr/>
        </p:nvSpPr>
        <p:spPr>
          <a:xfrm>
            <a:off x="411480" y="109728"/>
            <a:ext cx="8961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Inference and Deployment Plan</a:t>
            </a:r>
            <a:endParaRPr lang="en-US" sz="1300" dirty="0"/>
          </a:p>
        </p:txBody>
      </p:sp>
      <p:sp>
        <p:nvSpPr>
          <p:cNvPr id="4" name="Text 2"/>
          <p:cNvSpPr/>
          <p:nvPr/>
        </p:nvSpPr>
        <p:spPr>
          <a:xfrm>
            <a:off x="9692640" y="109728"/>
            <a:ext cx="2057400" cy="274320"/>
          </a:xfrm>
          <a:prstGeom prst="rect">
            <a:avLst/>
          </a:prstGeom>
          <a:noFill/>
          <a:ln/>
        </p:spPr>
        <p:txBody>
          <a:bodyPr wrap="square" lIns="0" tIns="0" rIns="0" bIns="0" rtlCol="0" anchor="ctr"/>
          <a:lstStyle/>
          <a:p>
            <a:pPr algn="r" indent="0" marL="0">
              <a:buNone/>
            </a:pPr>
            <a:r>
              <a:rPr lang="en-US" sz="900" dirty="0">
                <a:solidFill>
                  <a:srgbClr val="D9E2EC"/>
                </a:solidFill>
                <a:latin typeface="Arial" pitchFamily="34" charset="0"/>
                <a:ea typeface="Arial" pitchFamily="34" charset="-122"/>
                <a:cs typeface="Arial" pitchFamily="34" charset="-120"/>
              </a:rPr>
              <a:t>Operationalization</a:t>
            </a:r>
            <a:endParaRPr lang="en-US" sz="900" dirty="0"/>
          </a:p>
        </p:txBody>
      </p:sp>
      <p:sp>
        <p:nvSpPr>
          <p:cNvPr id="5" name="Text 3"/>
          <p:cNvSpPr/>
          <p:nvPr/>
        </p:nvSpPr>
        <p:spPr>
          <a:xfrm>
            <a:off x="594360" y="786384"/>
            <a:ext cx="10881360" cy="594360"/>
          </a:xfrm>
          <a:prstGeom prst="rect">
            <a:avLst/>
          </a:prstGeom>
          <a:noFill/>
          <a:ln/>
        </p:spPr>
        <p:txBody>
          <a:bodyPr wrap="square" lIns="254" tIns="254" rIns="254" bIns="254" rtlCol="0" anchor="ctr"/>
          <a:lstStyle/>
          <a:p>
            <a:pPr indent="0" marL="0">
              <a:buNone/>
            </a:pPr>
            <a:r>
              <a:rPr lang="en-US" sz="2800" b="1" dirty="0">
                <a:solidFill>
                  <a:srgbClr val="0B1F33"/>
                </a:solidFill>
                <a:latin typeface="Arial" pitchFamily="34" charset="0"/>
                <a:ea typeface="Arial" pitchFamily="34" charset="-122"/>
                <a:cs typeface="Arial" pitchFamily="34" charset="-120"/>
              </a:rPr>
              <a:t>Prepared for one-sample inference and future API deployment</a:t>
            </a:r>
            <a:endParaRPr lang="en-US" sz="2800" dirty="0"/>
          </a:p>
        </p:txBody>
      </p:sp>
      <p:sp>
        <p:nvSpPr>
          <p:cNvPr id="6" name="Text 4"/>
          <p:cNvSpPr/>
          <p:nvPr/>
        </p:nvSpPr>
        <p:spPr>
          <a:xfrm>
            <a:off x="621792" y="1399032"/>
            <a:ext cx="10424160" cy="301752"/>
          </a:xfrm>
          <a:prstGeom prst="rect">
            <a:avLst/>
          </a:prstGeom>
          <a:noFill/>
          <a:ln/>
        </p:spPr>
        <p:txBody>
          <a:bodyPr wrap="square" lIns="0" tIns="0" rIns="0" bIns="0" rtlCol="0" anchor="ctr"/>
          <a:lstStyle/>
          <a:p>
            <a:pPr indent="0" marL="0">
              <a:buNone/>
            </a:pPr>
            <a:r>
              <a:rPr lang="en-US" sz="1250" dirty="0">
                <a:solidFill>
                  <a:srgbClr val="5B6770"/>
                </a:solidFill>
                <a:latin typeface="Arial" pitchFamily="34" charset="0"/>
                <a:ea typeface="Arial" pitchFamily="34" charset="-122"/>
                <a:cs typeface="Arial" pitchFamily="34" charset="-120"/>
              </a:rPr>
              <a:t>The project includes a scoring script and a Cloud Run deployment plan.</a:t>
            </a:r>
            <a:endParaRPr lang="en-US" sz="1250" dirty="0"/>
          </a:p>
        </p:txBody>
      </p:sp>
      <p:sp>
        <p:nvSpPr>
          <p:cNvPr id="7" name="Shape 5"/>
          <p:cNvSpPr/>
          <p:nvPr/>
        </p:nvSpPr>
        <p:spPr>
          <a:xfrm>
            <a:off x="822960" y="1874520"/>
            <a:ext cx="3337560" cy="1463040"/>
          </a:xfrm>
          <a:prstGeom prst="roundRect">
            <a:avLst>
              <a:gd name="adj" fmla="val 5000"/>
            </a:avLst>
          </a:prstGeom>
          <a:solidFill>
            <a:srgbClr val="FFFFFF"/>
          </a:solidFill>
          <a:ln w="12700">
            <a:solidFill>
              <a:srgbClr val="D9E2EC"/>
            </a:solidFill>
            <a:prstDash val="solid"/>
          </a:ln>
        </p:spPr>
        <p:txBody>
          <a:bodyPr/>
          <a:p/>
        </p:txBody>
      </p:sp>
      <p:sp>
        <p:nvSpPr>
          <p:cNvPr id="8" name="Shape 6"/>
          <p:cNvSpPr/>
          <p:nvPr/>
        </p:nvSpPr>
        <p:spPr>
          <a:xfrm>
            <a:off x="822960" y="1874520"/>
            <a:ext cx="73152" cy="1463040"/>
          </a:xfrm>
          <a:prstGeom prst="rect">
            <a:avLst/>
          </a:prstGeom>
          <a:solidFill>
            <a:srgbClr val="00A6A6"/>
          </a:solidFill>
          <a:ln w="12700">
            <a:solidFill>
              <a:srgbClr val="00A6A6"/>
            </a:solidFill>
            <a:prstDash val="solid"/>
          </a:ln>
        </p:spPr>
        <p:txBody>
          <a:bodyPr/>
          <a:p/>
        </p:txBody>
      </p:sp>
      <p:sp>
        <p:nvSpPr>
          <p:cNvPr id="9" name="Text 7"/>
          <p:cNvSpPr/>
          <p:nvPr/>
        </p:nvSpPr>
        <p:spPr>
          <a:xfrm>
            <a:off x="1024128" y="2011680"/>
            <a:ext cx="301752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One-sample inference</a:t>
            </a:r>
            <a:endParaRPr lang="en-US" sz="1250" dirty="0"/>
          </a:p>
        </p:txBody>
      </p:sp>
      <p:sp>
        <p:nvSpPr>
          <p:cNvPr id="10" name="Text 8"/>
          <p:cNvSpPr/>
          <p:nvPr/>
        </p:nvSpPr>
        <p:spPr>
          <a:xfrm>
            <a:off x="1024128" y="2377440"/>
            <a:ext cx="3017520" cy="82296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Script: src/predict.py</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Loads the XGBoost model and scores one transaction row.</a:t>
            </a:r>
            <a:endParaRPr lang="en-US" sz="1050" dirty="0"/>
          </a:p>
        </p:txBody>
      </p:sp>
      <p:sp>
        <p:nvSpPr>
          <p:cNvPr id="11" name="Shape 9"/>
          <p:cNvSpPr/>
          <p:nvPr/>
        </p:nvSpPr>
        <p:spPr>
          <a:xfrm>
            <a:off x="4434840" y="1874520"/>
            <a:ext cx="3337560" cy="1463040"/>
          </a:xfrm>
          <a:prstGeom prst="roundRect">
            <a:avLst>
              <a:gd name="adj" fmla="val 5000"/>
            </a:avLst>
          </a:prstGeom>
          <a:solidFill>
            <a:srgbClr val="FFFFFF"/>
          </a:solidFill>
          <a:ln w="12700">
            <a:solidFill>
              <a:srgbClr val="D9E2EC"/>
            </a:solidFill>
            <a:prstDash val="solid"/>
          </a:ln>
        </p:spPr>
        <p:txBody>
          <a:bodyPr/>
          <a:p/>
        </p:txBody>
      </p:sp>
      <p:sp>
        <p:nvSpPr>
          <p:cNvPr id="12" name="Shape 10"/>
          <p:cNvSpPr/>
          <p:nvPr/>
        </p:nvSpPr>
        <p:spPr>
          <a:xfrm>
            <a:off x="4434840" y="1874520"/>
            <a:ext cx="73152" cy="1463040"/>
          </a:xfrm>
          <a:prstGeom prst="rect">
            <a:avLst/>
          </a:prstGeom>
          <a:solidFill>
            <a:srgbClr val="1F4E79"/>
          </a:solidFill>
          <a:ln w="12700">
            <a:solidFill>
              <a:srgbClr val="1F4E79"/>
            </a:solidFill>
            <a:prstDash val="solid"/>
          </a:ln>
        </p:spPr>
        <p:txBody>
          <a:bodyPr/>
          <a:p/>
        </p:txBody>
      </p:sp>
      <p:sp>
        <p:nvSpPr>
          <p:cNvPr id="13" name="Text 11"/>
          <p:cNvSpPr/>
          <p:nvPr/>
        </p:nvSpPr>
        <p:spPr>
          <a:xfrm>
            <a:off x="4636008" y="2011680"/>
            <a:ext cx="301752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API plan</a:t>
            </a:r>
            <a:endParaRPr lang="en-US" sz="1250" dirty="0"/>
          </a:p>
        </p:txBody>
      </p:sp>
      <p:sp>
        <p:nvSpPr>
          <p:cNvPr id="14" name="Text 12"/>
          <p:cNvSpPr/>
          <p:nvPr/>
        </p:nvSpPr>
        <p:spPr>
          <a:xfrm>
            <a:off x="4636008" y="2377440"/>
            <a:ext cx="3017520" cy="82296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Future FastAPI endpoint accepts transaction JSON and returns fraud probability.</a:t>
            </a:r>
            <a:endParaRPr lang="en-US" sz="1050" dirty="0"/>
          </a:p>
        </p:txBody>
      </p:sp>
      <p:sp>
        <p:nvSpPr>
          <p:cNvPr id="15" name="Shape 13"/>
          <p:cNvSpPr/>
          <p:nvPr/>
        </p:nvSpPr>
        <p:spPr>
          <a:xfrm>
            <a:off x="8046720" y="1874520"/>
            <a:ext cx="3337560" cy="1463040"/>
          </a:xfrm>
          <a:prstGeom prst="roundRect">
            <a:avLst>
              <a:gd name="adj" fmla="val 5000"/>
            </a:avLst>
          </a:prstGeom>
          <a:solidFill>
            <a:srgbClr val="FFFFFF"/>
          </a:solidFill>
          <a:ln w="12700">
            <a:solidFill>
              <a:srgbClr val="D9E2EC"/>
            </a:solidFill>
            <a:prstDash val="solid"/>
          </a:ln>
        </p:spPr>
        <p:txBody>
          <a:bodyPr/>
          <a:p/>
        </p:txBody>
      </p:sp>
      <p:sp>
        <p:nvSpPr>
          <p:cNvPr id="16" name="Shape 14"/>
          <p:cNvSpPr/>
          <p:nvPr/>
        </p:nvSpPr>
        <p:spPr>
          <a:xfrm>
            <a:off x="8046720" y="1874520"/>
            <a:ext cx="73152" cy="1463040"/>
          </a:xfrm>
          <a:prstGeom prst="rect">
            <a:avLst/>
          </a:prstGeom>
          <a:solidFill>
            <a:srgbClr val="F59E0B"/>
          </a:solidFill>
          <a:ln w="12700">
            <a:solidFill>
              <a:srgbClr val="F59E0B"/>
            </a:solidFill>
            <a:prstDash val="solid"/>
          </a:ln>
        </p:spPr>
        <p:txBody>
          <a:bodyPr/>
          <a:p/>
        </p:txBody>
      </p:sp>
      <p:sp>
        <p:nvSpPr>
          <p:cNvPr id="17" name="Text 15"/>
          <p:cNvSpPr/>
          <p:nvPr/>
        </p:nvSpPr>
        <p:spPr>
          <a:xfrm>
            <a:off x="8247888" y="2011680"/>
            <a:ext cx="301752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Cloud deployment</a:t>
            </a:r>
            <a:endParaRPr lang="en-US" sz="1250" dirty="0"/>
          </a:p>
        </p:txBody>
      </p:sp>
      <p:sp>
        <p:nvSpPr>
          <p:cNvPr id="18" name="Text 16"/>
          <p:cNvSpPr/>
          <p:nvPr/>
        </p:nvSpPr>
        <p:spPr>
          <a:xfrm>
            <a:off x="8247888" y="2377440"/>
            <a:ext cx="3017520" cy="82296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Plan: deployment/cloudrun_deploy.md</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Target: Google Cloud Run.</a:t>
            </a:r>
            <a:endParaRPr lang="en-US" sz="1050" dirty="0"/>
          </a:p>
        </p:txBody>
      </p:sp>
      <p:sp>
        <p:nvSpPr>
          <p:cNvPr id="19" name="Text 17"/>
          <p:cNvSpPr/>
          <p:nvPr/>
        </p:nvSpPr>
        <p:spPr>
          <a:xfrm>
            <a:off x="868680" y="3977640"/>
            <a:ext cx="2743200" cy="274320"/>
          </a:xfrm>
          <a:prstGeom prst="rect">
            <a:avLst/>
          </a:prstGeom>
          <a:noFill/>
          <a:ln/>
        </p:spPr>
        <p:txBody>
          <a:bodyPr wrap="square" lIns="0" tIns="0" rIns="0" bIns="0" rtlCol="0" anchor="ctr"/>
          <a:lstStyle/>
          <a:p>
            <a:pPr indent="0" marL="0">
              <a:buNone/>
            </a:pPr>
            <a:r>
              <a:rPr lang="en-US" sz="1500" b="1" dirty="0">
                <a:solidFill>
                  <a:srgbClr val="0B1F33"/>
                </a:solidFill>
                <a:latin typeface="Arial" pitchFamily="34" charset="0"/>
                <a:ea typeface="Arial" pitchFamily="34" charset="-122"/>
                <a:cs typeface="Arial" pitchFamily="34" charset="-120"/>
              </a:rPr>
              <a:t>Proposed deployment flow</a:t>
            </a:r>
            <a:endParaRPr lang="en-US" sz="1500" dirty="0"/>
          </a:p>
        </p:txBody>
      </p:sp>
      <p:sp>
        <p:nvSpPr>
          <p:cNvPr id="20" name="Shape 18"/>
          <p:cNvSpPr/>
          <p:nvPr/>
        </p:nvSpPr>
        <p:spPr>
          <a:xfrm>
            <a:off x="822960" y="4526280"/>
            <a:ext cx="1737360" cy="548640"/>
          </a:xfrm>
          <a:prstGeom prst="roundRect">
            <a:avLst>
              <a:gd name="adj" fmla="val 10000"/>
            </a:avLst>
          </a:prstGeom>
          <a:solidFill>
            <a:srgbClr val="F4F6F8"/>
          </a:solidFill>
          <a:ln w="12700">
            <a:solidFill>
              <a:srgbClr val="D9E2EC"/>
            </a:solidFill>
            <a:prstDash val="solid"/>
          </a:ln>
        </p:spPr>
        <p:txBody>
          <a:bodyPr/>
          <a:p/>
        </p:txBody>
      </p:sp>
      <p:sp>
        <p:nvSpPr>
          <p:cNvPr id="21" name="Text 19"/>
          <p:cNvSpPr/>
          <p:nvPr/>
        </p:nvSpPr>
        <p:spPr>
          <a:xfrm>
            <a:off x="914400" y="4690872"/>
            <a:ext cx="1554480" cy="182880"/>
          </a:xfrm>
          <a:prstGeom prst="rect">
            <a:avLst/>
          </a:prstGeom>
          <a:noFill/>
          <a:ln/>
        </p:spPr>
        <p:txBody>
          <a:bodyPr wrap="square" lIns="0" tIns="0" rIns="0" bIns="0" rtlCol="0" anchor="ctr">
            <a:normAutofit/>
          </a:bodyPr>
          <a:lstStyle/>
          <a:p>
            <a:pPr algn="ctr" indent="0" marL="0">
              <a:buNone/>
            </a:pPr>
            <a:r>
              <a:rPr lang="en-US" sz="920" dirty="0">
                <a:solidFill>
                  <a:srgbClr val="0B1F33"/>
                </a:solidFill>
                <a:latin typeface="Arial" pitchFamily="34" charset="0"/>
                <a:ea typeface="Arial" pitchFamily="34" charset="-122"/>
                <a:cs typeface="Arial" pitchFamily="34" charset="-120"/>
              </a:rPr>
              <a:t>Transaction JSON</a:t>
            </a:r>
            <a:endParaRPr lang="en-US" sz="920" dirty="0"/>
          </a:p>
        </p:txBody>
      </p:sp>
      <p:sp>
        <p:nvSpPr>
          <p:cNvPr id="22" name="Shape 20"/>
          <p:cNvSpPr/>
          <p:nvPr/>
        </p:nvSpPr>
        <p:spPr>
          <a:xfrm>
            <a:off x="2606040" y="4645152"/>
            <a:ext cx="237744" cy="228600"/>
          </a:xfrm>
          <a:prstGeom prst="chevron">
            <a:avLst/>
          </a:prstGeom>
          <a:solidFill>
            <a:srgbClr val="00A6A6"/>
          </a:solidFill>
          <a:ln w="12700">
            <a:solidFill>
              <a:srgbClr val="00A6A6"/>
            </a:solidFill>
            <a:prstDash val="solid"/>
          </a:ln>
        </p:spPr>
        <p:txBody>
          <a:bodyPr/>
          <a:p/>
        </p:txBody>
      </p:sp>
      <p:sp>
        <p:nvSpPr>
          <p:cNvPr id="23" name="Shape 21"/>
          <p:cNvSpPr/>
          <p:nvPr/>
        </p:nvSpPr>
        <p:spPr>
          <a:xfrm>
            <a:off x="3063240" y="4526280"/>
            <a:ext cx="1737360" cy="548640"/>
          </a:xfrm>
          <a:prstGeom prst="roundRect">
            <a:avLst>
              <a:gd name="adj" fmla="val 10000"/>
            </a:avLst>
          </a:prstGeom>
          <a:solidFill>
            <a:srgbClr val="F4F6F8"/>
          </a:solidFill>
          <a:ln w="12700">
            <a:solidFill>
              <a:srgbClr val="D9E2EC"/>
            </a:solidFill>
            <a:prstDash val="solid"/>
          </a:ln>
        </p:spPr>
        <p:txBody>
          <a:bodyPr/>
          <a:p/>
        </p:txBody>
      </p:sp>
      <p:sp>
        <p:nvSpPr>
          <p:cNvPr id="24" name="Text 22"/>
          <p:cNvSpPr/>
          <p:nvPr/>
        </p:nvSpPr>
        <p:spPr>
          <a:xfrm>
            <a:off x="3154680" y="4690872"/>
            <a:ext cx="1554480" cy="182880"/>
          </a:xfrm>
          <a:prstGeom prst="rect">
            <a:avLst/>
          </a:prstGeom>
          <a:noFill/>
          <a:ln/>
        </p:spPr>
        <p:txBody>
          <a:bodyPr wrap="square" lIns="0" tIns="0" rIns="0" bIns="0" rtlCol="0" anchor="ctr">
            <a:normAutofit/>
          </a:bodyPr>
          <a:lstStyle/>
          <a:p>
            <a:pPr algn="ctr" indent="0" marL="0">
              <a:buNone/>
            </a:pPr>
            <a:r>
              <a:rPr lang="en-US" sz="920" dirty="0">
                <a:solidFill>
                  <a:srgbClr val="0B1F33"/>
                </a:solidFill>
                <a:latin typeface="Arial" pitchFamily="34" charset="0"/>
                <a:ea typeface="Arial" pitchFamily="34" charset="-122"/>
                <a:cs typeface="Arial" pitchFamily="34" charset="-120"/>
              </a:rPr>
              <a:t>FastAPI app</a:t>
            </a:r>
            <a:endParaRPr lang="en-US" sz="920" dirty="0"/>
          </a:p>
        </p:txBody>
      </p:sp>
      <p:sp>
        <p:nvSpPr>
          <p:cNvPr id="25" name="Shape 23"/>
          <p:cNvSpPr/>
          <p:nvPr/>
        </p:nvSpPr>
        <p:spPr>
          <a:xfrm>
            <a:off x="4846320" y="4645152"/>
            <a:ext cx="237744" cy="228600"/>
          </a:xfrm>
          <a:prstGeom prst="chevron">
            <a:avLst/>
          </a:prstGeom>
          <a:solidFill>
            <a:srgbClr val="00A6A6"/>
          </a:solidFill>
          <a:ln w="12700">
            <a:solidFill>
              <a:srgbClr val="00A6A6"/>
            </a:solidFill>
            <a:prstDash val="solid"/>
          </a:ln>
        </p:spPr>
        <p:txBody>
          <a:bodyPr/>
          <a:p/>
        </p:txBody>
      </p:sp>
      <p:sp>
        <p:nvSpPr>
          <p:cNvPr id="26" name="Shape 24"/>
          <p:cNvSpPr/>
          <p:nvPr/>
        </p:nvSpPr>
        <p:spPr>
          <a:xfrm>
            <a:off x="5303520" y="4526280"/>
            <a:ext cx="1737360" cy="548640"/>
          </a:xfrm>
          <a:prstGeom prst="roundRect">
            <a:avLst>
              <a:gd name="adj" fmla="val 10000"/>
            </a:avLst>
          </a:prstGeom>
          <a:solidFill>
            <a:srgbClr val="E0F2FE"/>
          </a:solidFill>
          <a:ln w="12700">
            <a:solidFill>
              <a:srgbClr val="00A6A6"/>
            </a:solidFill>
            <a:prstDash val="solid"/>
          </a:ln>
        </p:spPr>
        <p:txBody>
          <a:bodyPr/>
          <a:p/>
        </p:txBody>
      </p:sp>
      <p:sp>
        <p:nvSpPr>
          <p:cNvPr id="27" name="Text 25"/>
          <p:cNvSpPr/>
          <p:nvPr/>
        </p:nvSpPr>
        <p:spPr>
          <a:xfrm>
            <a:off x="5394960" y="4690872"/>
            <a:ext cx="1554480" cy="182880"/>
          </a:xfrm>
          <a:prstGeom prst="rect">
            <a:avLst/>
          </a:prstGeom>
          <a:noFill/>
          <a:ln/>
        </p:spPr>
        <p:txBody>
          <a:bodyPr wrap="square" lIns="0" tIns="0" rIns="0" bIns="0" rtlCol="0" anchor="ctr">
            <a:normAutofit/>
          </a:bodyPr>
          <a:lstStyle/>
          <a:p>
            <a:pPr algn="ctr" indent="0" marL="0">
              <a:buNone/>
            </a:pPr>
            <a:r>
              <a:rPr lang="en-US" sz="920" b="1" dirty="0">
                <a:solidFill>
                  <a:srgbClr val="0B1F33"/>
                </a:solidFill>
                <a:latin typeface="Arial" pitchFamily="34" charset="0"/>
                <a:ea typeface="Arial" pitchFamily="34" charset="-122"/>
                <a:cs typeface="Arial" pitchFamily="34" charset="-120"/>
              </a:rPr>
              <a:t>XGBoost model</a:t>
            </a:r>
            <a:endParaRPr lang="en-US" sz="920" dirty="0"/>
          </a:p>
        </p:txBody>
      </p:sp>
      <p:sp>
        <p:nvSpPr>
          <p:cNvPr id="28" name="Shape 26"/>
          <p:cNvSpPr/>
          <p:nvPr/>
        </p:nvSpPr>
        <p:spPr>
          <a:xfrm>
            <a:off x="7086600" y="4645152"/>
            <a:ext cx="237744" cy="228600"/>
          </a:xfrm>
          <a:prstGeom prst="chevron">
            <a:avLst/>
          </a:prstGeom>
          <a:solidFill>
            <a:srgbClr val="00A6A6"/>
          </a:solidFill>
          <a:ln w="12700">
            <a:solidFill>
              <a:srgbClr val="00A6A6"/>
            </a:solidFill>
            <a:prstDash val="solid"/>
          </a:ln>
        </p:spPr>
        <p:txBody>
          <a:bodyPr/>
          <a:p/>
        </p:txBody>
      </p:sp>
      <p:sp>
        <p:nvSpPr>
          <p:cNvPr id="29" name="Shape 27"/>
          <p:cNvSpPr/>
          <p:nvPr/>
        </p:nvSpPr>
        <p:spPr>
          <a:xfrm>
            <a:off x="7543800" y="4526280"/>
            <a:ext cx="1737360" cy="548640"/>
          </a:xfrm>
          <a:prstGeom prst="roundRect">
            <a:avLst>
              <a:gd name="adj" fmla="val 10000"/>
            </a:avLst>
          </a:prstGeom>
          <a:solidFill>
            <a:srgbClr val="F4F6F8"/>
          </a:solidFill>
          <a:ln w="12700">
            <a:solidFill>
              <a:srgbClr val="D9E2EC"/>
            </a:solidFill>
            <a:prstDash val="solid"/>
          </a:ln>
        </p:spPr>
        <p:txBody>
          <a:bodyPr/>
          <a:p/>
        </p:txBody>
      </p:sp>
      <p:sp>
        <p:nvSpPr>
          <p:cNvPr id="30" name="Text 28"/>
          <p:cNvSpPr/>
          <p:nvPr/>
        </p:nvSpPr>
        <p:spPr>
          <a:xfrm>
            <a:off x="7635240" y="4690872"/>
            <a:ext cx="1554480" cy="182880"/>
          </a:xfrm>
          <a:prstGeom prst="rect">
            <a:avLst/>
          </a:prstGeom>
          <a:noFill/>
          <a:ln/>
        </p:spPr>
        <p:txBody>
          <a:bodyPr wrap="square" lIns="0" tIns="0" rIns="0" bIns="0" rtlCol="0" anchor="ctr">
            <a:normAutofit/>
          </a:bodyPr>
          <a:lstStyle/>
          <a:p>
            <a:pPr algn="ctr" indent="0" marL="0">
              <a:buNone/>
            </a:pPr>
            <a:r>
              <a:rPr lang="en-US" sz="920" dirty="0">
                <a:solidFill>
                  <a:srgbClr val="0B1F33"/>
                </a:solidFill>
                <a:latin typeface="Arial" pitchFamily="34" charset="0"/>
                <a:ea typeface="Arial" pitchFamily="34" charset="-122"/>
                <a:cs typeface="Arial" pitchFamily="34" charset="-120"/>
              </a:rPr>
              <a:t>Fraud probability</a:t>
            </a:r>
            <a:endParaRPr lang="en-US" sz="920" dirty="0"/>
          </a:p>
        </p:txBody>
      </p:sp>
      <p:sp>
        <p:nvSpPr>
          <p:cNvPr id="31" name="Shape 29"/>
          <p:cNvSpPr/>
          <p:nvPr/>
        </p:nvSpPr>
        <p:spPr>
          <a:xfrm>
            <a:off x="9326880" y="4645152"/>
            <a:ext cx="237744" cy="228600"/>
          </a:xfrm>
          <a:prstGeom prst="chevron">
            <a:avLst/>
          </a:prstGeom>
          <a:solidFill>
            <a:srgbClr val="00A6A6"/>
          </a:solidFill>
          <a:ln w="12700">
            <a:solidFill>
              <a:srgbClr val="00A6A6"/>
            </a:solidFill>
            <a:prstDash val="solid"/>
          </a:ln>
        </p:spPr>
        <p:txBody>
          <a:bodyPr/>
          <a:p/>
        </p:txBody>
      </p:sp>
      <p:sp>
        <p:nvSpPr>
          <p:cNvPr id="32" name="Shape 30"/>
          <p:cNvSpPr/>
          <p:nvPr/>
        </p:nvSpPr>
        <p:spPr>
          <a:xfrm>
            <a:off x="9784080" y="4526280"/>
            <a:ext cx="1737360" cy="548640"/>
          </a:xfrm>
          <a:prstGeom prst="roundRect">
            <a:avLst>
              <a:gd name="adj" fmla="val 10000"/>
            </a:avLst>
          </a:prstGeom>
          <a:solidFill>
            <a:srgbClr val="F4F6F8"/>
          </a:solidFill>
          <a:ln w="12700">
            <a:solidFill>
              <a:srgbClr val="D9E2EC"/>
            </a:solidFill>
            <a:prstDash val="solid"/>
          </a:ln>
        </p:spPr>
        <p:txBody>
          <a:bodyPr/>
          <a:p/>
        </p:txBody>
      </p:sp>
      <p:sp>
        <p:nvSpPr>
          <p:cNvPr id="33" name="Text 31"/>
          <p:cNvSpPr/>
          <p:nvPr/>
        </p:nvSpPr>
        <p:spPr>
          <a:xfrm>
            <a:off x="9875520" y="4690872"/>
            <a:ext cx="1554480" cy="182880"/>
          </a:xfrm>
          <a:prstGeom prst="rect">
            <a:avLst/>
          </a:prstGeom>
          <a:noFill/>
          <a:ln/>
        </p:spPr>
        <p:txBody>
          <a:bodyPr wrap="square" lIns="0" tIns="0" rIns="0" bIns="0" rtlCol="0" anchor="ctr">
            <a:normAutofit/>
          </a:bodyPr>
          <a:lstStyle/>
          <a:p>
            <a:pPr algn="ctr" indent="0" marL="0">
              <a:buNone/>
            </a:pPr>
            <a:r>
              <a:rPr lang="en-US" sz="920" dirty="0">
                <a:solidFill>
                  <a:srgbClr val="0B1F33"/>
                </a:solidFill>
                <a:latin typeface="Arial" pitchFamily="34" charset="0"/>
                <a:ea typeface="Arial" pitchFamily="34" charset="-122"/>
                <a:cs typeface="Arial" pitchFamily="34" charset="-120"/>
              </a:rPr>
              <a:t>Prediction label</a:t>
            </a:r>
            <a:endParaRPr lang="en-US" sz="920" dirty="0"/>
          </a:p>
        </p:txBody>
      </p:sp>
      <p:sp>
        <p:nvSpPr>
          <p:cNvPr id="34" name="Text 32"/>
          <p:cNvSpPr/>
          <p:nvPr/>
        </p:nvSpPr>
        <p:spPr>
          <a:xfrm>
            <a:off x="411480" y="6519672"/>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Credit Card Fraud Detection Capstone | Parviz Ali</a:t>
            </a:r>
            <a:endParaRPr lang="en-US" sz="750" dirty="0"/>
          </a:p>
        </p:txBody>
      </p:sp>
      <p:sp>
        <p:nvSpPr>
          <p:cNvPr id="35" name="Text 33"/>
          <p:cNvSpPr/>
          <p:nvPr/>
        </p:nvSpPr>
        <p:spPr>
          <a:xfrm>
            <a:off x="11475720" y="6492240"/>
            <a:ext cx="320040" cy="164592"/>
          </a:xfrm>
          <a:prstGeom prst="rect">
            <a:avLst/>
          </a:prstGeom>
          <a:noFill/>
          <a:ln/>
        </p:spPr>
        <p:txBody>
          <a:bodyPr wrap="square" lIns="0" tIns="0" rIns="0" bIns="0" rtlCol="0" anchor="ctr"/>
          <a:lstStyle/>
          <a:p>
            <a:pPr algn="r" indent="0" marL="0">
              <a:buNone/>
            </a:pPr>
            <a:r>
              <a:rPr lang="en-US" sz="750" dirty="0">
                <a:solidFill>
                  <a:srgbClr val="6B7280"/>
                </a:solidFill>
                <a:latin typeface="Arial" pitchFamily="34" charset="0"/>
                <a:ea typeface="Arial" pitchFamily="34" charset="-122"/>
                <a:cs typeface="Arial"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F33"/>
          </a:solidFill>
          <a:ln w="12700">
            <a:solidFill>
              <a:srgbClr val="0B1F33"/>
            </a:solidFill>
            <a:prstDash val="solid"/>
          </a:ln>
        </p:spPr>
        <p:txBody>
          <a:bodyPr/>
          <a:p/>
        </p:txBody>
      </p:sp>
      <p:sp>
        <p:nvSpPr>
          <p:cNvPr id="3" name="Text 1"/>
          <p:cNvSpPr/>
          <p:nvPr/>
        </p:nvSpPr>
        <p:spPr>
          <a:xfrm>
            <a:off x="411480" y="109728"/>
            <a:ext cx="8961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Limitations and Future Work</a:t>
            </a:r>
            <a:endParaRPr lang="en-US" sz="1300" dirty="0"/>
          </a:p>
        </p:txBody>
      </p:sp>
      <p:sp>
        <p:nvSpPr>
          <p:cNvPr id="4" name="Text 2"/>
          <p:cNvSpPr/>
          <p:nvPr/>
        </p:nvSpPr>
        <p:spPr>
          <a:xfrm>
            <a:off x="9692640" y="109728"/>
            <a:ext cx="2057400" cy="274320"/>
          </a:xfrm>
          <a:prstGeom prst="rect">
            <a:avLst/>
          </a:prstGeom>
          <a:noFill/>
          <a:ln/>
        </p:spPr>
        <p:txBody>
          <a:bodyPr wrap="square" lIns="0" tIns="0" rIns="0" bIns="0" rtlCol="0" anchor="ctr"/>
          <a:lstStyle/>
          <a:p>
            <a:pPr algn="r" indent="0" marL="0">
              <a:buNone/>
            </a:pPr>
            <a:r>
              <a:rPr lang="en-US" sz="900" dirty="0">
                <a:solidFill>
                  <a:srgbClr val="D9E2EC"/>
                </a:solidFill>
                <a:latin typeface="Arial" pitchFamily="34" charset="0"/>
                <a:ea typeface="Arial" pitchFamily="34" charset="-122"/>
                <a:cs typeface="Arial" pitchFamily="34" charset="-120"/>
              </a:rPr>
              <a:t>Next Steps</a:t>
            </a:r>
            <a:endParaRPr lang="en-US" sz="900" dirty="0"/>
          </a:p>
        </p:txBody>
      </p:sp>
      <p:sp>
        <p:nvSpPr>
          <p:cNvPr id="5" name="Text 3"/>
          <p:cNvSpPr/>
          <p:nvPr/>
        </p:nvSpPr>
        <p:spPr>
          <a:xfrm>
            <a:off x="594360" y="786384"/>
            <a:ext cx="10881360" cy="594360"/>
          </a:xfrm>
          <a:prstGeom prst="rect">
            <a:avLst/>
          </a:prstGeom>
          <a:noFill/>
          <a:ln/>
        </p:spPr>
        <p:txBody>
          <a:bodyPr wrap="square" lIns="254" tIns="254" rIns="254" bIns="254" rtlCol="0" anchor="ctr"/>
          <a:lstStyle/>
          <a:p>
            <a:pPr indent="0" marL="0">
              <a:buNone/>
            </a:pPr>
            <a:r>
              <a:rPr lang="en-US" sz="2800" b="1" dirty="0">
                <a:solidFill>
                  <a:srgbClr val="0B1F33"/>
                </a:solidFill>
                <a:latin typeface="Arial" pitchFamily="34" charset="0"/>
                <a:ea typeface="Arial" pitchFamily="34" charset="-122"/>
                <a:cs typeface="Arial" pitchFamily="34" charset="-120"/>
              </a:rPr>
              <a:t>What needs to happen before production use</a:t>
            </a:r>
            <a:endParaRPr lang="en-US" sz="2800" dirty="0"/>
          </a:p>
        </p:txBody>
      </p:sp>
      <p:sp>
        <p:nvSpPr>
          <p:cNvPr id="6" name="Text 4"/>
          <p:cNvSpPr/>
          <p:nvPr/>
        </p:nvSpPr>
        <p:spPr>
          <a:xfrm>
            <a:off x="621792" y="1399032"/>
            <a:ext cx="10424160" cy="301752"/>
          </a:xfrm>
          <a:prstGeom prst="rect">
            <a:avLst/>
          </a:prstGeom>
          <a:noFill/>
          <a:ln/>
        </p:spPr>
        <p:txBody>
          <a:bodyPr wrap="square" lIns="0" tIns="0" rIns="0" bIns="0" rtlCol="0" anchor="ctr"/>
          <a:lstStyle/>
          <a:p>
            <a:pPr indent="0" marL="0">
              <a:buNone/>
            </a:pPr>
            <a:r>
              <a:rPr lang="en-US" sz="1250" dirty="0">
                <a:solidFill>
                  <a:srgbClr val="5B6770"/>
                </a:solidFill>
                <a:latin typeface="Arial" pitchFamily="34" charset="0"/>
                <a:ea typeface="Arial" pitchFamily="34" charset="-122"/>
                <a:cs typeface="Arial" pitchFamily="34" charset="-120"/>
              </a:rPr>
              <a:t>The capstone demonstrates the workflow; production would require validation and monitoring.</a:t>
            </a:r>
            <a:endParaRPr lang="en-US" sz="1250" dirty="0"/>
          </a:p>
        </p:txBody>
      </p:sp>
      <p:sp>
        <p:nvSpPr>
          <p:cNvPr id="7" name="Shape 5"/>
          <p:cNvSpPr/>
          <p:nvPr/>
        </p:nvSpPr>
        <p:spPr>
          <a:xfrm>
            <a:off x="822960" y="1828800"/>
            <a:ext cx="5212080" cy="2011680"/>
          </a:xfrm>
          <a:prstGeom prst="roundRect">
            <a:avLst>
              <a:gd name="adj" fmla="val 3636"/>
            </a:avLst>
          </a:prstGeom>
          <a:solidFill>
            <a:srgbClr val="FFFFFF"/>
          </a:solidFill>
          <a:ln w="12700">
            <a:solidFill>
              <a:srgbClr val="D9E2EC"/>
            </a:solidFill>
            <a:prstDash val="solid"/>
          </a:ln>
        </p:spPr>
        <p:txBody>
          <a:bodyPr/>
          <a:p/>
        </p:txBody>
      </p:sp>
      <p:sp>
        <p:nvSpPr>
          <p:cNvPr id="8" name="Shape 6"/>
          <p:cNvSpPr/>
          <p:nvPr/>
        </p:nvSpPr>
        <p:spPr>
          <a:xfrm>
            <a:off x="822960" y="1828800"/>
            <a:ext cx="73152" cy="2011680"/>
          </a:xfrm>
          <a:prstGeom prst="rect">
            <a:avLst/>
          </a:prstGeom>
          <a:solidFill>
            <a:srgbClr val="F59E0B"/>
          </a:solidFill>
          <a:ln w="12700">
            <a:solidFill>
              <a:srgbClr val="F59E0B"/>
            </a:solidFill>
            <a:prstDash val="solid"/>
          </a:ln>
        </p:spPr>
        <p:txBody>
          <a:bodyPr/>
          <a:p/>
        </p:txBody>
      </p:sp>
      <p:sp>
        <p:nvSpPr>
          <p:cNvPr id="9" name="Text 7"/>
          <p:cNvSpPr/>
          <p:nvPr/>
        </p:nvSpPr>
        <p:spPr>
          <a:xfrm>
            <a:off x="1024128" y="1965960"/>
            <a:ext cx="48920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Limitations</a:t>
            </a:r>
            <a:endParaRPr lang="en-US" sz="1250" dirty="0"/>
          </a:p>
        </p:txBody>
      </p:sp>
      <p:sp>
        <p:nvSpPr>
          <p:cNvPr id="10" name="Text 8"/>
          <p:cNvSpPr/>
          <p:nvPr/>
        </p:nvSpPr>
        <p:spPr>
          <a:xfrm>
            <a:off x="1024128" y="2331720"/>
            <a:ext cx="4892040" cy="137160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 Features are anonymized</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 Business interpretation is limited</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 Fraud patterns change over time</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 Threshold should be optimized by business cost</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 Live API deployment is planned, not completed</a:t>
            </a:r>
            <a:endParaRPr lang="en-US" sz="1050" dirty="0"/>
          </a:p>
        </p:txBody>
      </p:sp>
      <p:sp>
        <p:nvSpPr>
          <p:cNvPr id="11" name="Shape 9"/>
          <p:cNvSpPr/>
          <p:nvPr/>
        </p:nvSpPr>
        <p:spPr>
          <a:xfrm>
            <a:off x="6309360" y="1828800"/>
            <a:ext cx="5212080" cy="2011680"/>
          </a:xfrm>
          <a:prstGeom prst="roundRect">
            <a:avLst>
              <a:gd name="adj" fmla="val 3636"/>
            </a:avLst>
          </a:prstGeom>
          <a:solidFill>
            <a:srgbClr val="FFFFFF"/>
          </a:solidFill>
          <a:ln w="12700">
            <a:solidFill>
              <a:srgbClr val="D9E2EC"/>
            </a:solidFill>
            <a:prstDash val="solid"/>
          </a:ln>
        </p:spPr>
        <p:txBody>
          <a:bodyPr/>
          <a:p/>
        </p:txBody>
      </p:sp>
      <p:sp>
        <p:nvSpPr>
          <p:cNvPr id="12" name="Shape 10"/>
          <p:cNvSpPr/>
          <p:nvPr/>
        </p:nvSpPr>
        <p:spPr>
          <a:xfrm>
            <a:off x="6309360" y="1828800"/>
            <a:ext cx="73152" cy="2011680"/>
          </a:xfrm>
          <a:prstGeom prst="rect">
            <a:avLst/>
          </a:prstGeom>
          <a:solidFill>
            <a:srgbClr val="00A6A6"/>
          </a:solidFill>
          <a:ln w="12700">
            <a:solidFill>
              <a:srgbClr val="00A6A6"/>
            </a:solidFill>
            <a:prstDash val="solid"/>
          </a:ln>
        </p:spPr>
        <p:txBody>
          <a:bodyPr/>
          <a:p/>
        </p:txBody>
      </p:sp>
      <p:sp>
        <p:nvSpPr>
          <p:cNvPr id="13" name="Text 11"/>
          <p:cNvSpPr/>
          <p:nvPr/>
        </p:nvSpPr>
        <p:spPr>
          <a:xfrm>
            <a:off x="6510528" y="1965960"/>
            <a:ext cx="4892040" cy="274320"/>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Future work</a:t>
            </a:r>
            <a:endParaRPr lang="en-US" sz="1250" dirty="0"/>
          </a:p>
        </p:txBody>
      </p:sp>
      <p:sp>
        <p:nvSpPr>
          <p:cNvPr id="14" name="Text 12"/>
          <p:cNvSpPr/>
          <p:nvPr/>
        </p:nvSpPr>
        <p:spPr>
          <a:xfrm>
            <a:off x="6510528" y="2331720"/>
            <a:ext cx="4892040" cy="1371600"/>
          </a:xfrm>
          <a:prstGeom prst="rect">
            <a:avLst/>
          </a:prstGeom>
          <a:noFill/>
          <a:ln/>
        </p:spPr>
        <p:txBody>
          <a:bodyPr wrap="square" lIns="254" tIns="254" rIns="254" bIns="254" rtlCol="0" anchor="ctr">
            <a:normAutofit/>
          </a:bodyPr>
          <a:lstStyle/>
          <a:p>
            <a:pPr indent="0" marL="0">
              <a:buNone/>
            </a:pPr>
            <a:r>
              <a:rPr lang="en-US" sz="1050" dirty="0">
                <a:solidFill>
                  <a:srgbClr val="5B6770"/>
                </a:solidFill>
                <a:latin typeface="Arial" pitchFamily="34" charset="0"/>
                <a:ea typeface="Arial" pitchFamily="34" charset="-122"/>
                <a:cs typeface="Arial" pitchFamily="34" charset="-120"/>
              </a:rPr>
              <a:t>• Add SHAP explainability</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 Build FastAPI endpoint</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 Deploy to Google Cloud Run</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 Monitor drift and performance</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 Add dashboard reporting</a:t>
            </a:r>
            <a:endParaRPr lang="en-US" sz="1050" dirty="0"/>
          </a:p>
        </p:txBody>
      </p:sp>
      <p:sp>
        <p:nvSpPr>
          <p:cNvPr id="15" name="Shape 13"/>
          <p:cNvSpPr/>
          <p:nvPr/>
        </p:nvSpPr>
        <p:spPr>
          <a:xfrm>
            <a:off x="1234440" y="4800600"/>
            <a:ext cx="9692640" cy="685800"/>
          </a:xfrm>
          <a:prstGeom prst="roundRect">
            <a:avLst>
              <a:gd name="adj" fmla="val 10667"/>
            </a:avLst>
          </a:prstGeom>
          <a:solidFill>
            <a:srgbClr val="0B1F33"/>
          </a:solidFill>
          <a:ln w="12700">
            <a:solidFill>
              <a:srgbClr val="0B1F33"/>
            </a:solidFill>
            <a:prstDash val="solid"/>
          </a:ln>
        </p:spPr>
        <p:txBody>
          <a:bodyPr/>
          <a:p/>
        </p:txBody>
      </p:sp>
      <p:sp>
        <p:nvSpPr>
          <p:cNvPr id="16" name="Text 14"/>
          <p:cNvSpPr/>
          <p:nvPr/>
        </p:nvSpPr>
        <p:spPr>
          <a:xfrm>
            <a:off x="1463040" y="5010912"/>
            <a:ext cx="9235440" cy="2286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Final takeaway: XGBoost is the recommended model, supported by a reproducible ML pipeline and standardized evaluation.</a:t>
            </a:r>
            <a:endParaRPr lang="en-US" sz="1250" dirty="0"/>
          </a:p>
        </p:txBody>
      </p:sp>
      <p:sp>
        <p:nvSpPr>
          <p:cNvPr id="17" name="Text 15"/>
          <p:cNvSpPr/>
          <p:nvPr/>
        </p:nvSpPr>
        <p:spPr>
          <a:xfrm>
            <a:off x="411480" y="6519672"/>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Credit Card Fraud Detection Capstone | Parviz Ali</a:t>
            </a:r>
            <a:endParaRPr lang="en-US" sz="750" dirty="0"/>
          </a:p>
        </p:txBody>
      </p:sp>
      <p:sp>
        <p:nvSpPr>
          <p:cNvPr id="18" name="Text 16"/>
          <p:cNvSpPr/>
          <p:nvPr/>
        </p:nvSpPr>
        <p:spPr>
          <a:xfrm>
            <a:off x="11475720" y="6492240"/>
            <a:ext cx="320040" cy="164592"/>
          </a:xfrm>
          <a:prstGeom prst="rect">
            <a:avLst/>
          </a:prstGeom>
          <a:noFill/>
          <a:ln/>
        </p:spPr>
        <p:txBody>
          <a:bodyPr wrap="square" lIns="0" tIns="0" rIns="0" bIns="0" rtlCol="0" anchor="ctr"/>
          <a:lstStyle/>
          <a:p>
            <a:pPr algn="r" indent="0" marL="0">
              <a:buNone/>
            </a:pPr>
            <a:r>
              <a:rPr lang="en-US" sz="750" dirty="0">
                <a:solidFill>
                  <a:srgbClr val="6B7280"/>
                </a:solidFill>
                <a:latin typeface="Arial" pitchFamily="34" charset="0"/>
                <a:ea typeface="Arial" pitchFamily="34" charset="-122"/>
                <a:cs typeface="Arial"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txBody>
          <a:bodyPr/>
          <a:p/>
        </p:txBody>
      </p:sp>
      <p:sp>
        <p:nvSpPr>
          <p:cNvPr id="3" name="Text 1"/>
          <p:cNvSpPr/>
          <p:nvPr/>
        </p:nvSpPr>
        <p:spPr>
          <a:xfrm>
            <a:off x="822960" y="1828800"/>
            <a:ext cx="5943600" cy="6400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Thank you</a:t>
            </a:r>
            <a:endParaRPr lang="en-US" sz="3800" dirty="0"/>
          </a:p>
        </p:txBody>
      </p:sp>
      <p:sp>
        <p:nvSpPr>
          <p:cNvPr id="4" name="Text 2"/>
          <p:cNvSpPr/>
          <p:nvPr/>
        </p:nvSpPr>
        <p:spPr>
          <a:xfrm>
            <a:off x="868680" y="2606040"/>
            <a:ext cx="4389120" cy="411480"/>
          </a:xfrm>
          <a:prstGeom prst="rect">
            <a:avLst/>
          </a:prstGeom>
          <a:noFill/>
          <a:ln/>
        </p:spPr>
        <p:txBody>
          <a:bodyPr wrap="square" lIns="0" tIns="0" rIns="0" bIns="0" rtlCol="0" anchor="ctr"/>
          <a:lstStyle/>
          <a:p>
            <a:pPr indent="0" marL="0">
              <a:buNone/>
            </a:pPr>
            <a:r>
              <a:rPr lang="en-US" sz="2200" dirty="0">
                <a:solidFill>
                  <a:srgbClr val="00A6A6"/>
                </a:solidFill>
                <a:latin typeface="Arial" pitchFamily="34" charset="0"/>
                <a:ea typeface="Arial" pitchFamily="34" charset="-122"/>
                <a:cs typeface="Arial" pitchFamily="34" charset="-120"/>
              </a:rPr>
              <a:t>Questions?</a:t>
            </a:r>
            <a:endParaRPr lang="en-US" sz="2200" dirty="0"/>
          </a:p>
        </p:txBody>
      </p:sp>
      <p:sp>
        <p:nvSpPr>
          <p:cNvPr id="5" name="Shape 3"/>
          <p:cNvSpPr/>
          <p:nvPr/>
        </p:nvSpPr>
        <p:spPr>
          <a:xfrm>
            <a:off x="868680" y="3337560"/>
            <a:ext cx="4023360" cy="0"/>
          </a:xfrm>
          <a:prstGeom prst="line">
            <a:avLst/>
          </a:prstGeom>
          <a:noFill/>
          <a:ln w="38100">
            <a:solidFill>
              <a:srgbClr val="00A6A6"/>
            </a:solidFill>
            <a:prstDash val="solid"/>
          </a:ln>
        </p:spPr>
        <p:txBody>
          <a:bodyPr/>
          <a:p/>
        </p:txBody>
      </p:sp>
      <p:sp>
        <p:nvSpPr>
          <p:cNvPr id="6" name="Text 4"/>
          <p:cNvSpPr/>
          <p:nvPr/>
        </p:nvSpPr>
        <p:spPr>
          <a:xfrm>
            <a:off x="868680" y="3703320"/>
            <a:ext cx="4572000" cy="457200"/>
          </a:xfrm>
          <a:prstGeom prst="rect">
            <a:avLst/>
          </a:prstGeom>
          <a:noFill/>
          <a:ln/>
        </p:spPr>
        <p:txBody>
          <a:bodyPr wrap="square" lIns="0" tIns="0" rIns="0" bIns="0" rtlCol="0" anchor="ctr"/>
          <a:lstStyle/>
          <a:p>
            <a:r>
              <a:t>Credit Card Fraud Detection Capstone</a:t>
            </a:r>
          </a:p>
          <a:p>
            <a:r>
              <a:t>Parviz Ali &amp; Maryam Shabani</a:t>
            </a:r>
          </a:p>
        </p:txBody>
      </p:sp>
      <p:sp>
        <p:nvSpPr>
          <p:cNvPr id="7" name="Shape 5"/>
          <p:cNvSpPr/>
          <p:nvPr/>
        </p:nvSpPr>
        <p:spPr>
          <a:xfrm>
            <a:off x="7315200" y="1463040"/>
            <a:ext cx="3474720" cy="3474720"/>
          </a:xfrm>
          <a:prstGeom prst="roundRect">
            <a:avLst>
              <a:gd name="adj" fmla="val 3947"/>
            </a:avLst>
          </a:prstGeom>
          <a:solidFill>
            <a:srgbClr val="102A43"/>
          </a:solidFill>
          <a:ln w="19050">
            <a:solidFill>
              <a:srgbClr val="00A6A6"/>
            </a:solidFill>
            <a:prstDash val="solid"/>
          </a:ln>
        </p:spPr>
        <p:txBody>
          <a:bodyPr/>
          <a:p/>
        </p:txBody>
      </p:sp>
      <p:sp>
        <p:nvSpPr>
          <p:cNvPr id="8" name="Text 6"/>
          <p:cNvSpPr/>
          <p:nvPr/>
        </p:nvSpPr>
        <p:spPr>
          <a:xfrm>
            <a:off x="7818120" y="2286000"/>
            <a:ext cx="256032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Final model:</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XGBoost</a:t>
            </a:r>
            <a:endParaRPr lang="en-US" sz="2400" dirty="0"/>
          </a:p>
        </p:txBody>
      </p:sp>
      <p:sp>
        <p:nvSpPr>
          <p:cNvPr id="9" name="Text 7"/>
          <p:cNvSpPr/>
          <p:nvPr/>
        </p:nvSpPr>
        <p:spPr>
          <a:xfrm>
            <a:off x="7726680" y="3246120"/>
            <a:ext cx="2651760" cy="411480"/>
          </a:xfrm>
          <a:prstGeom prst="rect">
            <a:avLst/>
          </a:prstGeom>
          <a:noFill/>
          <a:ln/>
        </p:spPr>
        <p:txBody>
          <a:bodyPr wrap="square" lIns="0" tIns="0" rIns="0" bIns="0" rtlCol="0" anchor="ctr"/>
          <a:lstStyle/>
          <a:p>
            <a:pPr algn="ctr" indent="0" marL="0">
              <a:buNone/>
            </a:pPr>
            <a:r>
              <a:rPr lang="en-US" sz="1100" dirty="0">
                <a:solidFill>
                  <a:srgbClr val="D9E2EC"/>
                </a:solidFill>
                <a:latin typeface="Arial" pitchFamily="34" charset="0"/>
                <a:ea typeface="Arial" pitchFamily="34" charset="-122"/>
                <a:cs typeface="Arial" pitchFamily="34" charset="-120"/>
              </a:rPr>
              <a:t>Best overall balance</a:t>
            </a:r>
            <a:endParaRPr lang="en-US" sz="1100" dirty="0"/>
          </a:p>
          <a:p>
            <a:pPr algn="ctr" indent="0" marL="0">
              <a:buNone/>
            </a:pPr>
            <a:r>
              <a:rPr lang="en-US" sz="1100" dirty="0">
                <a:solidFill>
                  <a:srgbClr val="D9E2EC"/>
                </a:solidFill>
                <a:latin typeface="Arial" pitchFamily="34" charset="0"/>
                <a:ea typeface="Arial" pitchFamily="34" charset="-122"/>
                <a:cs typeface="Arial" pitchFamily="34" charset="-120"/>
              </a:rPr>
              <a:t>of precision, recall, F1, and PR-AUC</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Capstone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dc:title>
  <dc:subject>Credit Card Fraud Detection Capstone</dc:subject>
  <dc:creator>Parviz Ali</dc:creator>
  <cp:lastModifiedBy>Parviz Ali</cp:lastModifiedBy>
  <cp:revision>1</cp:revision>
  <dcterms:created xsi:type="dcterms:W3CDTF">2026-07-07T18:57:19Z</dcterms:created>
  <dcterms:modified xsi:type="dcterms:W3CDTF">2026-07-07T18:57:19Z</dcterms:modified>
</cp:coreProperties>
</file>