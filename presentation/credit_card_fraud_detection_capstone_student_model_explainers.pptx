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71" r:id="rId22"/>
    <p:sldId id="272" r:id="rId23"/>
    <p:sldId id="273" r:id="rId24"/>
    <p:sldId id="274" r:id="rId25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2D4B"/>
                </a:solidFill>
              </a:defRPr>
            </a:pPr>
            <a:r>
              <a:t>Credit Card Fraud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86069"/>
                </a:solidFill>
              </a:defRPr>
            </a:pPr>
            <a:r>
              <a:t>Using machine learning to identify rare fraudulent transactions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52D4B"/>
                </a:solidFill>
              </a:defRPr>
            </a:pPr>
            <a:r>
              <a:t>Capstone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12529"/>
                </a:solidFill>
              </a:defRPr>
            </a:pPr>
            <a:r>
              <a:t>Parviz Ali &amp; Maryam Shabani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8080"/>
                </a:solidFill>
              </a:defRPr>
            </a:pPr>
            <a:r>
              <a:t>Final model recommendation: XGBoost supervised classifier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828800"/>
            <a:ext cx="347472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52D4B"/>
                </a:solidFill>
              </a:defRPr>
            </a:pPr>
            <a:r>
              <a:t>284,807 transactions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651760"/>
            <a:ext cx="347472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52D4B"/>
                </a:solidFill>
              </a:defRPr>
            </a:pPr>
            <a:r>
              <a:t>492 fraud cases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3474720"/>
            <a:ext cx="3474720" cy="64008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52D4B"/>
                </a:solidFill>
              </a:defRPr>
            </a:pPr>
            <a:r>
              <a:t>0.17% fraud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9"/>
                </a:solidFill>
              </a:defRPr>
            </a:pPr>
            <a:r>
              <a:t>Credit Card Fraud Detection Capstone | Parviz Ali &amp; Maryam Shabani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2D4B"/>
                </a:solidFill>
              </a:defRPr>
            </a:pPr>
            <a:r>
              <a:t>Project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86069"/>
                </a:solidFill>
              </a:defRPr>
            </a:pPr>
            <a:r>
              <a:t>Build a reproducible fraud detection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5852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</a:defRPr>
            </a:pPr>
            <a:r>
              <a:t>Analyze a highly imbalanced credit card fraud dataset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</a:defRPr>
            </a:pPr>
            <a:r>
              <a:t>Create a consistent preprocessing and train/test split workflow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</a:defRPr>
            </a:pPr>
            <a:r>
              <a:t>Compare supervised and anomaly detection models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</a:defRPr>
            </a:pPr>
            <a:r>
              <a:t>Select a final model based on fraud-detection metrics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</a:defRPr>
            </a:pPr>
            <a:r>
              <a:t>Prepare one-sample inference and deployment planning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2011680"/>
            <a:ext cx="438912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52D4B"/>
                </a:solidFill>
              </a:defRPr>
            </a:pPr>
            <a:r>
              <a:t>Pipeline → Models → Evaluation →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333756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52D4B"/>
                </a:solidFill>
              </a:defRPr>
            </a:pPr>
            <a:r>
              <a:t>Key control: all models use the same official processed split.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9"/>
                </a:solidFill>
              </a:defRPr>
            </a:pPr>
            <a:r>
              <a:t>Credit Card Fraud Detection Capstone | Parviz Ali &amp; Maryam Shabani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2D4B"/>
                </a:solidFill>
              </a:defRPr>
            </a:pPr>
            <a:r>
              <a:t>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86069"/>
                </a:solidFill>
              </a:defRPr>
            </a:pPr>
            <a:r>
              <a:t>Fraud is rare, but costly to miss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</a:defRPr>
            </a:pPr>
            <a:r>
              <a:t>Fraud causes financial loss and customer trust risk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</a:defRPr>
            </a:pPr>
            <a:r>
              <a:t>False negatives represent missed fraud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</a:defRPr>
            </a:pPr>
            <a:r>
              <a:t>False positives create manual review workload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</a:defRPr>
            </a:pPr>
            <a:r>
              <a:t>Accuracy can be misleading in highly imbalanced datasets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45920"/>
            <a:ext cx="4297680" cy="54864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52D4B"/>
                </a:solidFill>
              </a:defRPr>
            </a:pPr>
            <a:r>
              <a:t>Primary modeling 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560320"/>
            <a:ext cx="4023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2D4B"/>
                </a:solidFill>
              </a:defRPr>
            </a:pPr>
            <a:r>
              <a:t>Catch as much fraud as possible while keeping false alerts manageable.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9"/>
                </a:solidFill>
              </a:defRPr>
            </a:pPr>
            <a:r>
              <a:t>Credit Card Fraud Detection Capstone | Parviz Ali &amp; Maryam Shabani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2D4B"/>
                </a:solidFill>
              </a:defRPr>
            </a:pPr>
            <a: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86069"/>
                </a:solidFill>
              </a:defRPr>
            </a:pPr>
            <a:r>
              <a:t>Kaggle/ULB credit card fraud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  <a:r>
              <a:t>Total transactions: 284,807</a:t>
            </a:r>
          </a:p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  <a:r>
              <a:t>Fraud transactions: 492</a:t>
            </a:r>
          </a:p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  <a:r>
              <a:t>Fraud rate: approximately 0.17%</a:t>
            </a:r>
          </a:p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  <a:r>
              <a:t>Features: Time, Amount, V1–V28</a:t>
            </a:r>
          </a:p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  <a:r>
              <a:t>Target: Class (0 = non-fraud, 1 = fraud)</a:t>
            </a:r>
          </a:p>
        </p:txBody>
      </p:sp>
      <p:pic>
        <p:nvPicPr>
          <p:cNvPr id="7" name="Picture 6" descr="class_im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25880"/>
            <a:ext cx="5852160" cy="32635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9"/>
                </a:solidFill>
              </a:defRPr>
            </a:pPr>
            <a:r>
              <a:t>Credit Card Fraud Detection Capstone | Parviz Ali &amp; Maryam Shabani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2D4B"/>
                </a:solidFill>
              </a:defRPr>
            </a:pPr>
            <a:r>
              <a:t>Class Imbalance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86069"/>
                </a:solidFill>
              </a:defRPr>
            </a:pPr>
            <a:r>
              <a:t>Why accuracy alone is not enough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3657600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52D4B"/>
                </a:solidFill>
              </a:defRPr>
            </a:pPr>
            <a:r>
              <a:t>High accuracy can still miss fraud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3657600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52D4B"/>
                </a:solidFill>
              </a:defRPr>
            </a:pPr>
            <a:r>
              <a:t>Recall: how much fraud we catch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337560"/>
            <a:ext cx="3657600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52D4B"/>
                </a:solidFill>
              </a:defRPr>
            </a:pPr>
            <a:r>
              <a:t>Precision: how many alerts are real fraud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343400"/>
            <a:ext cx="3657600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52D4B"/>
                </a:solidFill>
              </a:defRPr>
            </a:pPr>
            <a:r>
              <a:t>PR-AUC: strong metric for rare positives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920240"/>
            <a:ext cx="5852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2D4B"/>
                </a:solidFill>
              </a:defRPr>
            </a:pPr>
            <a:r>
              <a:t>Fraud cases are only 492 of 284,807 transactions. Because the positive class is rare, model selection should emphasize recall, precision, F1-score, and PR-AUC.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9"/>
                </a:solidFill>
              </a:defRPr>
            </a:pPr>
            <a:r>
              <a:t>Credit Card Fraud Detection Capstone | Parviz Ali &amp; Maryam Shabani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2D4B"/>
                </a:solidFill>
              </a:defRPr>
            </a:pPr>
            <a:r>
              <a:t>Preprocessing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86069"/>
                </a:solidFill>
              </a:defRPr>
            </a:pPr>
            <a:r>
              <a:t>One official split for fair model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874519" cy="68580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52D4B"/>
                </a:solidFill>
              </a:defRPr>
            </a:pPr>
            <a:r>
              <a:t>Load raw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0391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8080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920240"/>
            <a:ext cx="1874519" cy="68580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52D4B"/>
                </a:solidFill>
              </a:defRPr>
            </a:pPr>
            <a:r>
              <a:t>Validate columns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0391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8080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920240"/>
            <a:ext cx="1874519" cy="68580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52D4B"/>
                </a:solidFill>
              </a:defRPr>
            </a:pPr>
            <a:r>
              <a:t>Stratified split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0391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8080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1920240"/>
            <a:ext cx="1874519" cy="68580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52D4B"/>
                </a:solidFill>
              </a:defRPr>
            </a:pPr>
            <a:r>
              <a:t>Fit scaler on train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0391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8080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1920240"/>
            <a:ext cx="1874519" cy="68580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52D4B"/>
                </a:solidFill>
              </a:defRPr>
            </a:pPr>
            <a:r>
              <a:t>Save processed 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9875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  <a:r>
              <a:t>Script: src/preprocess.py</a:t>
            </a:r>
          </a:p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  <a:r>
              <a:t>random_state = 42 for reproducibility</a:t>
            </a:r>
          </a:p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  <a:r>
              <a:t>StandardScaler fitted only on X_train to prevent leakage</a:t>
            </a:r>
          </a:p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  <a:r>
              <a:t>All models use data/processed 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9"/>
                </a:solidFill>
              </a:defRPr>
            </a:pPr>
            <a:r>
              <a:t>Credit Card Fraud Detection Capstone | Parviz Ali &amp; Maryam Shabani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2D4B"/>
                </a:solidFill>
              </a:defRPr>
            </a:pPr>
            <a:r>
              <a:t>Models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86069"/>
                </a:solidFill>
              </a:defRPr>
            </a:pPr>
            <a:r>
              <a:t>Three approaches were compared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52D4B"/>
                </a:solidFill>
              </a:defRPr>
            </a:pPr>
            <a:r>
              <a:t>Logistic Regression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12529"/>
                </a:solidFill>
              </a:defRPr>
            </a:pPr>
            <a:r>
              <a:t>Simple supervised benchmark</a:t>
            </a:r>
            <a:br/>
            <a:r>
              <a:t>Scaled features</a:t>
            </a:r>
            <a:br/>
            <a:r>
              <a:t>class_weight="balanced"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63040"/>
            <a:ext cx="3383280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52D4B"/>
                </a:solidFill>
              </a:defRPr>
            </a:pPr>
            <a:r>
              <a:t>XGBoost Classifier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37744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12529"/>
                </a:solidFill>
              </a:defRPr>
            </a:pPr>
            <a:r>
              <a:t>Strong tabular model</a:t>
            </a:r>
            <a:br/>
            <a:r>
              <a:t>Unscaled features</a:t>
            </a:r>
            <a:br/>
            <a:r>
              <a:t>scale_pos_weight for imbalance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463040"/>
            <a:ext cx="3383280" cy="73152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52D4B"/>
                </a:solidFill>
              </a:defRPr>
            </a:pPr>
            <a:r>
              <a:t>Autoencoder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37744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12529"/>
                </a:solidFill>
              </a:defRPr>
            </a:pPr>
            <a:r>
              <a:t>Anomaly detection benchmark</a:t>
            </a:r>
            <a:br/>
            <a:r>
              <a:t>Trained on normal transactions</a:t>
            </a:r>
            <a:br/>
            <a:r>
              <a:t>Uses reconstruction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074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52D4B"/>
                </a:solidFill>
              </a:defRPr>
            </a:pPr>
            <a:r>
              <a:t>Shared evaluation utility: src/evaluation.py → reports/metrics_summary.csv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9"/>
                </a:solidFill>
              </a:defRPr>
            </a:pPr>
            <a:r>
              <a:t>Credit Card Fraud Detection Capstone | Parviz Ali &amp; Maryam Shabani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2D4B"/>
                </a:solidFill>
              </a:defRPr>
            </a:pPr>
            <a:r>
              <a:t>Model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86069"/>
                </a:solidFill>
              </a:defRPr>
            </a:pPr>
            <a:r>
              <a:t>XGBoost had the best overall balance</a:t>
            </a:r>
          </a:p>
        </p:txBody>
      </p:sp>
      <p:pic>
        <p:nvPicPr>
          <p:cNvPr id="6" name="Picture 5" descr="model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858000" cy="3605864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35240" y="1645920"/>
          <a:ext cx="397763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527"/>
                <a:gridCol w="795527"/>
                <a:gridCol w="795527"/>
                <a:gridCol w="795527"/>
                <a:gridCol w="795531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52D4B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52D4B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52D4B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52D4B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52D4B"/>
                          </a:solidFill>
                        </a:defRPr>
                      </a:pPr>
                      <a:r>
                        <a:t>PR-AUC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Logistic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0.061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0.918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0.114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0.719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12529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12529"/>
                          </a:solidFill>
                        </a:defRPr>
                      </a:pPr>
                      <a:r>
                        <a:t>0.548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12529"/>
                          </a:solidFill>
                        </a:defRPr>
                      </a:pPr>
                      <a:r>
                        <a:t>0.878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12529"/>
                          </a:solidFill>
                        </a:defRPr>
                      </a:pPr>
                      <a:r>
                        <a:t>0.675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12529"/>
                          </a:solidFill>
                        </a:defRPr>
                      </a:pPr>
                      <a:r>
                        <a:t>0.855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Autoencoder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0.178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0.663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0.281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529"/>
                          </a:solidFill>
                        </a:defRPr>
                      </a:pPr>
                      <a:r>
                        <a:t>0.380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0" y="4434840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52D4B"/>
                </a:solidFill>
              </a:defRPr>
            </a:pPr>
            <a:r>
              <a:t>Key message: Logistic Regression catches many fraud cases, but XGBoost has the strongest overall balance.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9"/>
                </a:solidFill>
              </a:defRPr>
            </a:pPr>
            <a:r>
              <a:t>Credit Card Fraud Detection Capstone | Parviz Ali &amp; Maryam Shabani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2D4B"/>
                </a:solidFill>
              </a:defRPr>
            </a:pPr>
            <a:r>
              <a:t>Model Testing: Error Tradeoff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86069"/>
                </a:solidFill>
              </a:defRPr>
            </a:pPr>
            <a:r>
              <a:t>False positives and false negatives on the test set</a:t>
            </a:r>
          </a:p>
        </p:txBody>
      </p:sp>
      <p:pic>
        <p:nvPicPr>
          <p:cNvPr id="6" name="Picture 5" descr="error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6949440" cy="36558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8120" y="1508760"/>
            <a:ext cx="374903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Logistic Regression: very high recall, but many false positives</a:t>
            </a:r>
          </a:p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XGBoost: only 12 missed fraud cases with far fewer false positives</a:t>
            </a:r>
          </a:p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Autoencoder: useful anomaly benchmark, but more missed fraud and false alerts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9"/>
                </a:solidFill>
              </a:defRPr>
            </a:pPr>
            <a:r>
              <a:t>Credit Card Fraud Detection Capstone | Parviz Ali &amp; Maryam Shabani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2D4B"/>
                </a:solidFill>
              </a:defRPr>
            </a:pPr>
            <a:r>
              <a:t>XGBoost Threshold 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86069"/>
                </a:solidFill>
              </a:defRPr>
            </a:pPr>
            <a:r>
              <a:t>Precision-recall tradeoff</a:t>
            </a:r>
          </a:p>
        </p:txBody>
      </p:sp>
      <p:pic>
        <p:nvPicPr>
          <p:cNvPr id="6" name="Picture 5" descr="threshold_tu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43000"/>
            <a:ext cx="6949440" cy="36539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8120" y="1691640"/>
            <a:ext cx="3657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Default threshold 0.50: recall = 0.878, precision = 0.548</a:t>
            </a:r>
          </a:p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Threshold 0.60: recall stays about the same, precision improves</a:t>
            </a:r>
          </a:p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</a:defRPr>
            </a:pPr>
            <a:r>
              <a:t>Final threshold should be selected using business cost of false positives vs false negatives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9"/>
                </a:solidFill>
              </a:defRPr>
            </a:pPr>
            <a:r>
              <a:t>Credit Card Fraud Detection Capstone | Parviz Ali &amp; Maryam Shabani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2D4B"/>
                </a:solidFill>
              </a:defRPr>
            </a:pPr>
            <a:r>
              <a:t>Final Model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86069"/>
                </a:solidFill>
              </a:defRPr>
            </a:pPr>
            <a:r>
              <a:t>Recommended model: XGBoost supervised classifier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71600"/>
            <a:ext cx="292608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52D4B"/>
                </a:solidFill>
              </a:defRPr>
            </a:pPr>
            <a:r>
              <a:t>XGBoost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Best F1-score: 0.6745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Best PR-AUC: 0.8547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High fraud recall: 0.8776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Much stronger precision than Logistic Regression</a:t>
            </a:r>
          </a:p>
          <a:p>
            <a:pPr>
              <a:spcAft>
                <a:spcPts val="800"/>
              </a:spcAft>
              <a:defRPr sz="1800">
                <a:solidFill>
                  <a:srgbClr val="212529"/>
                </a:solidFill>
              </a:defRPr>
            </a:pPr>
            <a:r>
              <a:t>Fewer false positives than Autoencoder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52D4B"/>
                </a:solidFill>
              </a:defRPr>
            </a:pPr>
            <a:r>
              <a:t>Final model artifact:</a:t>
            </a:r>
            <a:br/>
            <a:r>
              <a:t>model_artifacts/xgboost_fraud_model.joblib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347472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8080"/>
                </a:solidFill>
              </a:defRPr>
            </a:pPr>
            <a:r>
              <a:t>Decision rationale: best overall balance between catching fraud and controlling false alerts.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9"/>
                </a:solidFill>
              </a:defRPr>
            </a:pPr>
            <a:r>
              <a:t>Credit Card Fraud Detection Capstone | Parviz Ali &amp; Maryam Shabani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2D4B"/>
                </a:solidFill>
              </a:defRPr>
            </a:pPr>
            <a:r>
              <a:t>Inference and Deployment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86069"/>
                </a:solidFill>
              </a:defRPr>
            </a:pPr>
            <a:r>
              <a:t>Prepared for one-sample scoring and future API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874519" cy="68580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52D4B"/>
                </a:solidFill>
              </a:defRPr>
            </a:pPr>
            <a:r>
              <a:t>predict.py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8608" y="1965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8080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53512" y="1828800"/>
            <a:ext cx="1874519" cy="68580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52D4B"/>
                </a:solidFill>
              </a:defRPr>
            </a:pPr>
            <a:r>
              <a:t>XGBoost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965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8080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21224" y="1828800"/>
            <a:ext cx="1874519" cy="68580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52D4B"/>
                </a:solidFill>
              </a:defRPr>
            </a:pPr>
            <a:r>
              <a:t>Fraud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4031" y="1965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8080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88936" y="1828800"/>
            <a:ext cx="1874519" cy="68580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52D4B"/>
                </a:solidFill>
              </a:defRPr>
            </a:pPr>
            <a:r>
              <a:t>FastAPI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81744" y="19659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8080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56648" y="1828800"/>
            <a:ext cx="1874519" cy="68580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152D4B"/>
                </a:solidFill>
              </a:defRPr>
            </a:pPr>
            <a:r>
              <a:t>Cloud 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  <a:r>
              <a:t>One-sample inference script: src/predict.py</a:t>
            </a:r>
          </a:p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  <a:r>
              <a:t>Deployment plan: deployment/cloudrun_deploy.md</a:t>
            </a:r>
          </a:p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</a:defRPr>
            </a:pPr>
            <a:r>
              <a:t>Future API accepts transaction JSON and returns fraud probability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9"/>
                </a:solidFill>
              </a:defRPr>
            </a:pPr>
            <a:r>
              <a:t>Credit Card Fraud Detection Capstone | Parviz Ali &amp; Maryam Shabani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2D4B"/>
                </a:solidFill>
              </a:defRPr>
            </a:pPr>
            <a: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86069"/>
                </a:solidFill>
              </a:defRPr>
            </a:pPr>
            <a:r>
              <a:t>What should be addressed before production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9875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</a:defRPr>
            </a:pPr>
            <a:r>
              <a:t>Dataset features are anonymized, limiting business interpretation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</a:defRPr>
            </a:pPr>
            <a:r>
              <a:t>Fraud patterns change over time and require monitoring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</a:defRPr>
            </a:pPr>
            <a:r>
              <a:t>Model should be validated on newer transaction data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</a:defRPr>
            </a:pPr>
            <a:r>
              <a:t>Threshold should be optimized using business cost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</a:defRPr>
            </a:pPr>
            <a:r>
              <a:t>Live production API was planned but not deployed in this phase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9"/>
                </a:solidFill>
              </a:defRPr>
            </a:pPr>
            <a:r>
              <a:t>Credit Card Fraud Detection Capstone | Parviz Ali &amp; Maryam Shabani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2D4B"/>
                </a:solidFill>
              </a:defRPr>
            </a:pPr>
            <a:r>
              <a:t>Future Work and 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86069"/>
                </a:solidFill>
              </a:defRPr>
            </a:pPr>
            <a:r>
              <a:t>Next steps to make the system production-ready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9875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</a:defRPr>
            </a:pPr>
            <a:r>
              <a:t>Add SHAP explainability for XGBoost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</a:defRPr>
            </a:pPr>
            <a:r>
              <a:t>Optimize threshold based on false-positive and false-negative costs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</a:defRPr>
            </a:pPr>
            <a:r>
              <a:t>Build FastAPI endpoint and deploy to Google Cloud Run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</a:defRPr>
            </a:pPr>
            <a:r>
              <a:t>Monitor data drift and performance degradation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</a:defRPr>
            </a:pPr>
            <a:r>
              <a:t>Create dashboard reporting for fraud prediction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486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8080"/>
                </a:solidFill>
              </a:defRPr>
            </a:pPr>
            <a:r>
              <a:t>Conclusion: XGBoost is the recommended final model for this capstone project.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9"/>
                </a:solidFill>
              </a:defRPr>
            </a:pPr>
            <a:r>
              <a:t>Credit Card Fraud Detection Capstone | Parviz Ali &amp; Maryam Shabani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52D4B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86069"/>
                </a:solidFill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52D4B"/>
                </a:solidFill>
              </a:defRPr>
            </a:pPr>
            <a:r>
              <a:t>Credit Card Fraud Detection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12529"/>
                </a:solidFill>
              </a:defRPr>
            </a:pPr>
            <a:r>
              <a:t>Parviz Ali &amp; Maryam Shabani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86069"/>
                </a:solidFill>
              </a:defRPr>
            </a:pPr>
            <a:r>
              <a:t>Credit Card Fraud Detection Capstone | Parviz Ali &amp; Maryam Shabani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5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Model Comparison: How Each Model Learns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029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DCE8"/>
                </a:solidFill>
              </a:defRPr>
            </a:pPr>
            <a:r>
              <a:t>A student-friendly view of why the models behave differently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3566160" cy="4343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05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61288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05C94"/>
                </a:solidFill>
              </a:defRPr>
            </a:pPr>
            <a:r>
              <a:t>Logistic Regression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554480"/>
            <a:ext cx="324612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1C2024"/>
                </a:solidFill>
              </a:defRPr>
            </a:pPr>
            <a:r>
              <a:t>Type: supervised classification</a:t>
            </a:r>
          </a:p>
          <a:p>
            <a:pPr>
              <a:spcAft>
                <a:spcPts val="400"/>
              </a:spcAft>
              <a:defRPr sz="1050">
                <a:solidFill>
                  <a:srgbClr val="1C2024"/>
                </a:solidFill>
              </a:defRPr>
            </a:pPr>
            <a:r>
              <a:t>Learns directly from Class = 0 and Class = 1 labels</a:t>
            </a:r>
          </a:p>
          <a:p>
            <a:pPr>
              <a:spcAft>
                <a:spcPts val="400"/>
              </a:spcAft>
              <a:defRPr sz="1050">
                <a:solidFill>
                  <a:srgbClr val="1C2024"/>
                </a:solidFill>
              </a:defRPr>
            </a:pPr>
            <a:r>
              <a:t>Uses a linear decision boundary</a:t>
            </a:r>
          </a:p>
          <a:p>
            <a:pPr>
              <a:spcAft>
                <a:spcPts val="400"/>
              </a:spcAft>
              <a:defRPr sz="1050">
                <a:solidFill>
                  <a:srgbClr val="1C2024"/>
                </a:solidFill>
              </a:defRPr>
            </a:pPr>
            <a:r>
              <a:t>class_weight="balanced" pushes the model to catch rare fraud</a:t>
            </a:r>
          </a:p>
          <a:p>
            <a:pPr>
              <a:spcAft>
                <a:spcPts val="400"/>
              </a:spcAft>
              <a:defRPr sz="1050">
                <a:solidFill>
                  <a:srgbClr val="1C2024"/>
                </a:solidFill>
              </a:defRPr>
            </a:pPr>
            <a:r>
              <a:t>Result: highest recall, but too many false positives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051560"/>
            <a:ext cx="3566160" cy="4343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08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1161288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0855E"/>
                </a:solidFill>
              </a:defRPr>
            </a:pPr>
            <a:r>
              <a:t>XGBoost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1554480"/>
            <a:ext cx="324612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1C2024"/>
                </a:solidFill>
              </a:defRPr>
            </a:pPr>
            <a:r>
              <a:t>Type: supervised classification</a:t>
            </a:r>
          </a:p>
          <a:p>
            <a:pPr>
              <a:spcAft>
                <a:spcPts val="400"/>
              </a:spcAft>
              <a:defRPr sz="1050">
                <a:solidFill>
                  <a:srgbClr val="1C2024"/>
                </a:solidFill>
              </a:defRPr>
            </a:pPr>
            <a:r>
              <a:t>Learns from labeled fraud and non-fraud examples</a:t>
            </a:r>
          </a:p>
          <a:p>
            <a:pPr>
              <a:spcAft>
                <a:spcPts val="400"/>
              </a:spcAft>
              <a:defRPr sz="1050">
                <a:solidFill>
                  <a:srgbClr val="1C2024"/>
                </a:solidFill>
              </a:defRPr>
            </a:pPr>
            <a:r>
              <a:t>Uses many boosted decision trees</a:t>
            </a:r>
          </a:p>
          <a:p>
            <a:pPr>
              <a:spcAft>
                <a:spcPts val="400"/>
              </a:spcAft>
              <a:defRPr sz="1050">
                <a:solidFill>
                  <a:srgbClr val="1C2024"/>
                </a:solidFill>
              </a:defRPr>
            </a:pPr>
            <a:r>
              <a:t>scale_pos_weight handles severe class imbalance</a:t>
            </a:r>
          </a:p>
          <a:p>
            <a:pPr>
              <a:spcAft>
                <a:spcPts val="400"/>
              </a:spcAft>
              <a:defRPr sz="1050">
                <a:solidFill>
                  <a:srgbClr val="1C2024"/>
                </a:solidFill>
              </a:defRPr>
            </a:pPr>
            <a:r>
              <a:t>Result: best overall precision/recall/F1/PR-AUC balance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051560"/>
            <a:ext cx="3566160" cy="4343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7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2" y="1161288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F7F2A"/>
                </a:solidFill>
              </a:defRPr>
            </a:pPr>
            <a:r>
              <a:t>Autoencoder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464" y="1554480"/>
            <a:ext cx="324612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1C2024"/>
                </a:solidFill>
              </a:defRPr>
            </a:pPr>
            <a:r>
              <a:t>Type: semi-supervised anomaly detection</a:t>
            </a:r>
          </a:p>
          <a:p>
            <a:pPr>
              <a:spcAft>
                <a:spcPts val="400"/>
              </a:spcAft>
              <a:defRPr sz="1050">
                <a:solidFill>
                  <a:srgbClr val="1C2024"/>
                </a:solidFill>
              </a:defRPr>
            </a:pPr>
            <a:r>
              <a:t>Trained only on normal transactions</a:t>
            </a:r>
          </a:p>
          <a:p>
            <a:pPr>
              <a:spcAft>
                <a:spcPts val="400"/>
              </a:spcAft>
              <a:defRPr sz="1050">
                <a:solidFill>
                  <a:srgbClr val="1C2024"/>
                </a:solidFill>
              </a:defRPr>
            </a:pPr>
            <a:r>
              <a:t>Learns to reconstruct normal behavior</a:t>
            </a:r>
          </a:p>
          <a:p>
            <a:pPr>
              <a:spcAft>
                <a:spcPts val="400"/>
              </a:spcAft>
              <a:defRPr sz="1050">
                <a:solidFill>
                  <a:srgbClr val="1C2024"/>
                </a:solidFill>
              </a:defRPr>
            </a:pPr>
            <a:r>
              <a:t>High reconstruction error = unusual transaction</a:t>
            </a:r>
          </a:p>
          <a:p>
            <a:pPr>
              <a:spcAft>
                <a:spcPts val="400"/>
              </a:spcAft>
              <a:defRPr sz="1050">
                <a:solidFill>
                  <a:srgbClr val="1C2024"/>
                </a:solidFill>
              </a:defRPr>
            </a:pPr>
            <a:r>
              <a:t>Result: useful anomaly benchmark, but weaker than XGBoost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5623560"/>
            <a:ext cx="10424160" cy="502920"/>
          </a:xfrm>
          <a:prstGeom prst="roundRect">
            <a:avLst/>
          </a:prstGeom>
          <a:solidFill>
            <a:srgbClr val="ECF3F9"/>
          </a:solidFill>
          <a:ln>
            <a:solidFill>
              <a:srgbClr val="205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724144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52D44"/>
                </a:solidFill>
              </a:defRPr>
            </a:pPr>
            <a:r>
              <a:t>Key takeaway: Logistic Regression and XGBoost learn fraud labels directly; Autoencoder learns normal behavior and flags deviations.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0"/>
                </a:solidFill>
              </a:defRPr>
            </a:pPr>
            <a:r>
              <a:t>Credit Card Fraud Detection Capstone | Parviz Ali &amp; Maryam Shabani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5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Autoencoder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029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DCE8"/>
                </a:solidFill>
              </a:defRPr>
            </a:pPr>
            <a:r>
              <a:t>How the anomaly detection benchmark identifies possible fraud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24128"/>
            <a:ext cx="457200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52D44"/>
                </a:solidFill>
              </a:defRPr>
            </a:pPr>
            <a:r>
              <a:t>What type of model is it?</a:t>
            </a:r>
          </a:p>
          <a:p>
            <a:pPr>
              <a:spcAft>
                <a:spcPts val="600"/>
              </a:spcAft>
              <a:defRPr sz="1200">
                <a:solidFill>
                  <a:srgbClr val="1C2024"/>
                </a:solidFill>
              </a:defRPr>
            </a:pPr>
            <a:r>
              <a:t>A neural-network-based anomaly detection model.</a:t>
            </a:r>
          </a:p>
          <a:p>
            <a:pPr>
              <a:spcAft>
                <a:spcPts val="600"/>
              </a:spcAft>
              <a:defRPr sz="1200">
                <a:solidFill>
                  <a:srgbClr val="1C2024"/>
                </a:solidFill>
              </a:defRPr>
            </a:pPr>
            <a:r>
              <a:t>Used here as semi-supervised learning: labels were used only to select normal training rows.</a:t>
            </a:r>
          </a:p>
          <a:p>
            <a:pPr>
              <a:spcAft>
                <a:spcPts val="600"/>
              </a:spcAft>
              <a:defRPr sz="1200">
                <a:solidFill>
                  <a:srgbClr val="1C2024"/>
                </a:solidFill>
              </a:defRPr>
            </a:pPr>
            <a:r>
              <a:t>It did not directly train on fraud vs non-fraud classification like XGBoost.</a:t>
            </a:r>
          </a:p>
          <a:p>
            <a:pPr>
              <a:spcAft>
                <a:spcPts val="600"/>
              </a:spcAft>
              <a:defRPr sz="1200">
                <a:solidFill>
                  <a:srgbClr val="1C2024"/>
                </a:solidFill>
              </a:defRPr>
            </a:pPr>
            <a:r>
              <a:t>It learned a compressed representation of normal transactions and tried to reconstruct them.</a:t>
            </a:r>
          </a:p>
          <a:p>
            <a:pPr>
              <a:spcAft>
                <a:spcPts val="600"/>
              </a:spcAft>
              <a:defRPr sz="1200">
                <a:solidFill>
                  <a:srgbClr val="1C2024"/>
                </a:solidFill>
              </a:defRPr>
            </a:pPr>
            <a:r>
              <a:t>Transactions reconstructed poorly were treated as anomalies.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3560" y="1874519"/>
            <a:ext cx="914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05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0" y="1984248"/>
            <a:ext cx="822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52D44"/>
                </a:solidFill>
              </a:defRPr>
            </a:pPr>
            <a:r>
              <a:t>Scaled normal</a:t>
            </a:r>
            <a:br/>
            <a:r>
              <a:t>transactions</a:t>
            </a:r>
          </a:p>
          <a:p>
            <a:pPr algn="ctr">
              <a:defRPr sz="750">
                <a:solidFill>
                  <a:srgbClr val="5F6970"/>
                </a:solidFill>
              </a:defRPr>
            </a:pPr>
            <a:r>
              <a:t>Input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37960" y="2331720"/>
            <a:ext cx="182880" cy="0"/>
          </a:xfrm>
          <a:prstGeom prst="line">
            <a:avLst/>
          </a:prstGeom>
          <a:ln w="15240">
            <a:solidFill>
              <a:srgbClr val="5F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720840" y="1874519"/>
            <a:ext cx="914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08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1984248"/>
            <a:ext cx="822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52D44"/>
                </a:solidFill>
              </a:defRPr>
            </a:pPr>
            <a:r>
              <a:t>Encoder</a:t>
            </a:r>
          </a:p>
          <a:p>
            <a:pPr algn="ctr">
              <a:defRPr sz="750">
                <a:solidFill>
                  <a:srgbClr val="5F6970"/>
                </a:solidFill>
              </a:defRPr>
            </a:pPr>
            <a:r>
              <a:t>Compress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35240" y="2331720"/>
            <a:ext cx="182880" cy="0"/>
          </a:xfrm>
          <a:prstGeom prst="line">
            <a:avLst/>
          </a:prstGeom>
          <a:ln w="15240">
            <a:solidFill>
              <a:srgbClr val="5F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818120" y="1874519"/>
            <a:ext cx="914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1984248"/>
            <a:ext cx="822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52D44"/>
                </a:solidFill>
              </a:defRPr>
            </a:pPr>
            <a:r>
              <a:t>Bottleneck</a:t>
            </a:r>
          </a:p>
          <a:p>
            <a:pPr algn="ctr">
              <a:defRPr sz="750">
                <a:solidFill>
                  <a:srgbClr val="5F6970"/>
                </a:solidFill>
              </a:defRPr>
            </a:pPr>
            <a:r>
              <a:t>Learn normal</a:t>
            </a:r>
            <a:br/>
            <a:r>
              <a:t>pattern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32520" y="2331720"/>
            <a:ext cx="182880" cy="0"/>
          </a:xfrm>
          <a:prstGeom prst="line">
            <a:avLst/>
          </a:prstGeom>
          <a:ln w="15240">
            <a:solidFill>
              <a:srgbClr val="5F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915400" y="1874519"/>
            <a:ext cx="914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08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984248"/>
            <a:ext cx="822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52D44"/>
                </a:solidFill>
              </a:defRPr>
            </a:pPr>
            <a:r>
              <a:t>Decoder</a:t>
            </a:r>
          </a:p>
          <a:p>
            <a:pPr algn="ctr">
              <a:defRPr sz="750">
                <a:solidFill>
                  <a:srgbClr val="5F6970"/>
                </a:solidFill>
              </a:defRPr>
            </a:pPr>
            <a:r>
              <a:t>Reconstruct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829800" y="2331720"/>
            <a:ext cx="182880" cy="0"/>
          </a:xfrm>
          <a:prstGeom prst="line">
            <a:avLst/>
          </a:prstGeom>
          <a:ln w="15240">
            <a:solidFill>
              <a:srgbClr val="5F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012680" y="1874519"/>
            <a:ext cx="914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7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1984248"/>
            <a:ext cx="822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52D44"/>
                </a:solidFill>
              </a:defRPr>
            </a:pPr>
            <a:r>
              <a:t>Error score</a:t>
            </a:r>
          </a:p>
          <a:p>
            <a:pPr algn="ctr">
              <a:defRPr sz="750">
                <a:solidFill>
                  <a:srgbClr val="5F6970"/>
                </a:solidFill>
              </a:defRPr>
            </a:pPr>
            <a:r>
              <a:t>Compare input</a:t>
            </a:r>
            <a:br/>
            <a:r>
              <a:t>vs output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927080" y="2331720"/>
            <a:ext cx="0" cy="0"/>
          </a:xfrm>
          <a:prstGeom prst="line">
            <a:avLst/>
          </a:prstGeom>
          <a:ln w="15240">
            <a:solidFill>
              <a:srgbClr val="5F69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927080" y="1874519"/>
            <a:ext cx="10515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0" y="1984248"/>
            <a:ext cx="96011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152D44"/>
                </a:solidFill>
              </a:defRPr>
            </a:pPr>
            <a:r>
              <a:t>Threshold</a:t>
            </a:r>
          </a:p>
          <a:p>
            <a:pPr algn="ctr">
              <a:defRPr sz="750">
                <a:solidFill>
                  <a:srgbClr val="5F6970"/>
                </a:solidFill>
              </a:defRPr>
            </a:pPr>
            <a:r>
              <a:t>Fraud if</a:t>
            </a:r>
            <a:br/>
            <a:r>
              <a:t>error ≥ 4.8042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0" y="3657600"/>
            <a:ext cx="5806440" cy="1234440"/>
          </a:xfrm>
          <a:prstGeom prst="roundRect">
            <a:avLst/>
          </a:prstGeom>
          <a:solidFill>
            <a:srgbClr val="ECF3F9"/>
          </a:solidFill>
          <a:ln>
            <a:solidFill>
              <a:srgbClr val="CF7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3822191"/>
            <a:ext cx="53492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52D44"/>
                </a:solidFill>
              </a:defRPr>
            </a:pPr>
            <a:r>
              <a:t>Decision logic: low reconstruction error → normal-looking transaction; high reconstruction error → possible fraud/anomaly.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0"/>
                </a:solidFill>
              </a:defRPr>
            </a:pPr>
            <a:r>
              <a:t>Credit Card Fraud Detection Capstone | Parviz Ali &amp; Maryam Shabani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5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Autoencoder Results: What the Numbers Mean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029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DCE8"/>
                </a:solidFill>
              </a:defRPr>
            </a:pPr>
            <a:r>
              <a:t>Why anomaly detection helped, but did not beat the supervised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51560"/>
            <a:ext cx="1920240" cy="11430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F7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61288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F6970"/>
                </a:solidFill>
              </a:defRPr>
            </a:pPr>
            <a:r>
              <a:t>Precision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99031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CF7F2A"/>
                </a:solidFill>
              </a:defRPr>
            </a:pPr>
            <a:r>
              <a:t>17.81%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837943"/>
            <a:ext cx="17007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1C2024"/>
                </a:solidFill>
              </a:defRPr>
            </a:pPr>
            <a:r>
              <a:t>Many alerts were false positives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051560"/>
            <a:ext cx="1920240" cy="11430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08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161288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F6970"/>
                </a:solidFill>
              </a:defRPr>
            </a:pPr>
            <a:r>
              <a:t>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399031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30855E"/>
                </a:solidFill>
              </a:defRPr>
            </a:pPr>
            <a:r>
              <a:t>66.33%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2928" y="1837943"/>
            <a:ext cx="17007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1C2024"/>
                </a:solidFill>
              </a:defRPr>
            </a:pPr>
            <a:r>
              <a:t>Caught 65 of 98 fraud cases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1051560"/>
            <a:ext cx="1920240" cy="11430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05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79" y="1161288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F6970"/>
                </a:solidFill>
              </a:defRPr>
            </a:pPr>
            <a:r>
              <a:t>F1-score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79" y="1399031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05C94"/>
                </a:solidFill>
              </a:defRPr>
            </a:pPr>
            <a:r>
              <a:t>28.08%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1768" y="1837943"/>
            <a:ext cx="17007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1C2024"/>
                </a:solidFill>
              </a:defRPr>
            </a:pPr>
            <a:r>
              <a:t>Modest balance of precision and recall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1051560"/>
            <a:ext cx="1920240" cy="11430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B4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1161288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F6970"/>
                </a:solidFill>
              </a:defRPr>
            </a:pPr>
            <a:r>
              <a:t>PR-AUC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399031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B44646"/>
                </a:solidFill>
              </a:defRPr>
            </a:pPr>
            <a:r>
              <a:t>38.00%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0608" y="1837943"/>
            <a:ext cx="17007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1C2024"/>
                </a:solidFill>
              </a:defRPr>
            </a:pPr>
            <a:r>
              <a:t>Weaker rare-class performance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1051560"/>
            <a:ext cx="1920240" cy="11430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E82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60" y="1161288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F6970"/>
                </a:solidFill>
              </a:defRPr>
            </a:pPr>
            <a:r>
              <a:t>Threshold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1399031"/>
            <a:ext cx="1737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8287"/>
                </a:solidFill>
              </a:defRPr>
            </a:pPr>
            <a:r>
              <a:t>4.8042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9448" y="1837943"/>
            <a:ext cx="17007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1C2024"/>
                </a:solidFill>
              </a:defRPr>
            </a:pPr>
            <a:r>
              <a:t>99.5th percentile of normal errors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77240" y="2743200"/>
          <a:ext cx="47548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554480"/>
                <a:gridCol w="1554480"/>
              </a:tblGrid>
              <a:tr h="5181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Actual / Predicted</a:t>
                      </a:r>
                    </a:p>
                  </a:txBody>
                  <a:tcPr>
                    <a:solidFill>
                      <a:srgbClr val="15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Non-Fraud</a:t>
                      </a:r>
                    </a:p>
                  </a:txBody>
                  <a:tcPr>
                    <a:solidFill>
                      <a:srgbClr val="15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Fraud</a:t>
                      </a:r>
                    </a:p>
                  </a:txBody>
                  <a:tcPr>
                    <a:solidFill>
                      <a:srgbClr val="152D44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C2024"/>
                          </a:solidFill>
                        </a:defRPr>
                      </a:pPr>
                      <a:r>
                        <a:t>Non-Fraud</a:t>
                      </a:r>
                    </a:p>
                  </a:txBody>
                  <a:tcPr>
                    <a:solidFill>
                      <a:srgbClr val="EC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C2024"/>
                          </a:solidFill>
                        </a:defRPr>
                      </a:pPr>
                      <a:r>
                        <a:t>56,564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C2024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C2024"/>
                          </a:solidFill>
                        </a:defRPr>
                      </a:pPr>
                      <a:r>
                        <a:t>Fraud</a:t>
                      </a:r>
                    </a:p>
                  </a:txBody>
                  <a:tcPr>
                    <a:solidFill>
                      <a:srgbClr val="EC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C2024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C2024"/>
                          </a:solidFill>
                        </a:defRPr>
                      </a:pPr>
                      <a: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5989320" y="2743200"/>
            <a:ext cx="521208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7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2852928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F7F2A"/>
                </a:solidFill>
              </a:defRPr>
            </a:pPr>
            <a:r>
              <a:t>Interpretation for the cohort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3912" y="3246120"/>
            <a:ext cx="48920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1C2024"/>
                </a:solidFill>
              </a:defRPr>
            </a:pPr>
            <a:r>
              <a:t>The model learned normal transaction patterns, not fraud labels directly.</a:t>
            </a:r>
          </a:p>
          <a:p>
            <a:pPr>
              <a:spcAft>
                <a:spcPts val="400"/>
              </a:spcAft>
              <a:defRPr sz="1050">
                <a:solidFill>
                  <a:srgbClr val="1C2024"/>
                </a:solidFill>
              </a:defRPr>
            </a:pPr>
            <a:r>
              <a:t>Some fraud looked normal → 33 missed fraud cases.</a:t>
            </a:r>
          </a:p>
          <a:p>
            <a:pPr>
              <a:spcAft>
                <a:spcPts val="400"/>
              </a:spcAft>
              <a:defRPr sz="1050">
                <a:solidFill>
                  <a:srgbClr val="1C2024"/>
                </a:solidFill>
              </a:defRPr>
            </a:pPr>
            <a:r>
              <a:t>Some normal transactions looked unusual → 300 false positives.</a:t>
            </a:r>
          </a:p>
          <a:p>
            <a:pPr>
              <a:spcAft>
                <a:spcPts val="400"/>
              </a:spcAft>
              <a:defRPr sz="1050">
                <a:solidFill>
                  <a:srgbClr val="1C2024"/>
                </a:solidFill>
              </a:defRPr>
            </a:pPr>
            <a:r>
              <a:t>Useful benchmark, but supervised XGBoost learned a stronger decision boundary.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983480"/>
            <a:ext cx="10424160" cy="640080"/>
          </a:xfrm>
          <a:prstGeom prst="roundRect">
            <a:avLst/>
          </a:prstGeom>
          <a:solidFill>
            <a:srgbClr val="ECF3F9"/>
          </a:solidFill>
          <a:ln>
            <a:solidFill>
              <a:srgbClr val="15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111496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52D44"/>
                </a:solidFill>
              </a:defRPr>
            </a:pPr>
            <a:r>
              <a:t>Presentation line: “Autoencoder is a semi-supervised anomaly detector; it is useful, but here the labeled supervised model performed better.”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0"/>
                </a:solidFill>
              </a:defRPr>
            </a:pPr>
            <a:r>
              <a:t>Credit Card Fraud Detection Capstone | Parviz Ali &amp; Maryam Shabani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5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Model Tradeoff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029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DCE8"/>
                </a:solidFill>
              </a:defRPr>
            </a:pPr>
            <a:r>
              <a:t>How to explain why XGBoost is recommended even though Logistic Regression recall is higher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928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1143000"/>
                <a:gridCol w="1143000"/>
                <a:gridCol w="1143000"/>
                <a:gridCol w="1143000"/>
                <a:gridCol w="438912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5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5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5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15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PR-AUC</a:t>
                      </a:r>
                    </a:p>
                  </a:txBody>
                  <a:tcPr>
                    <a:solidFill>
                      <a:srgbClr val="15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What this means</a:t>
                      </a:r>
                    </a:p>
                  </a:txBody>
                  <a:tcPr>
                    <a:solidFill>
                      <a:srgbClr val="152D4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C2024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C2024"/>
                          </a:solidFill>
                        </a:defRPr>
                      </a:pPr>
                      <a:r>
                        <a:t>0.0610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C2024"/>
                          </a:solidFill>
                        </a:defRPr>
                      </a:pPr>
                      <a:r>
                        <a:t>0.9184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C2024"/>
                          </a:solidFill>
                        </a:defRPr>
                      </a:pPr>
                      <a:r>
                        <a:t>0.1144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C2024"/>
                          </a:solidFill>
                        </a:defRPr>
                      </a:pPr>
                      <a:r>
                        <a:t>0.7190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>
                          <a:solidFill>
                            <a:srgbClr val="1C2024"/>
                          </a:solidFill>
                        </a:defRPr>
                      </a:pPr>
                      <a:r>
                        <a:t>Catches many fraud cases, but creates too many false alerts.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30855E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C2024"/>
                          </a:solidFill>
                        </a:defRPr>
                      </a:pPr>
                      <a:r>
                        <a:t>0.5478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C2024"/>
                          </a:solidFill>
                        </a:defRPr>
                      </a:pPr>
                      <a:r>
                        <a:t>0.8776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30855E"/>
                          </a:solidFill>
                        </a:defRPr>
                      </a:pPr>
                      <a:r>
                        <a:t>0.6745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 b="1">
                          <a:solidFill>
                            <a:srgbClr val="30855E"/>
                          </a:solidFill>
                        </a:defRPr>
                      </a:pPr>
                      <a:r>
                        <a:t>0.8547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 b="1">
                          <a:solidFill>
                            <a:srgbClr val="30855E"/>
                          </a:solidFill>
                        </a:defRPr>
                      </a:pPr>
                      <a:r>
                        <a:t>Best overall balance; strongest final recommendation.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C2024"/>
                          </a:solidFill>
                        </a:defRPr>
                      </a:pPr>
                      <a:r>
                        <a:t>Autoencoder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C2024"/>
                          </a:solidFill>
                        </a:defRPr>
                      </a:pPr>
                      <a:r>
                        <a:t>0.1781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C2024"/>
                          </a:solidFill>
                        </a:defRPr>
                      </a:pPr>
                      <a:r>
                        <a:t>0.6633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C2024"/>
                          </a:solidFill>
                        </a:defRPr>
                      </a:pPr>
                      <a:r>
                        <a:t>0.2808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80">
                          <a:solidFill>
                            <a:srgbClr val="1C2024"/>
                          </a:solidFill>
                        </a:defRPr>
                      </a:pPr>
                      <a:r>
                        <a:t>0.3800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80">
                          <a:solidFill>
                            <a:srgbClr val="1C2024"/>
                          </a:solidFill>
                        </a:defRPr>
                      </a:pPr>
                      <a:r>
                        <a:t>Good anomaly benchmark; weaker because it did not learn fraud labels directly.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3703320"/>
            <a:ext cx="333756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05C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813048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05C94"/>
                </a:solidFill>
              </a:defRPr>
            </a:pPr>
            <a:r>
              <a:t>How to explain LR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4206240"/>
            <a:ext cx="3017520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1C2024"/>
                </a:solidFill>
              </a:defRPr>
            </a:pPr>
            <a:r>
              <a:t>Highest recall is good.</a:t>
            </a:r>
          </a:p>
          <a:p>
            <a:pPr>
              <a:spcAft>
                <a:spcPts val="400"/>
              </a:spcAft>
              <a:defRPr sz="1050">
                <a:solidFill>
                  <a:srgbClr val="1C2024"/>
                </a:solidFill>
              </a:defRPr>
            </a:pPr>
            <a:r>
              <a:t>But 6.1% precision means many false alarms.</a:t>
            </a:r>
          </a:p>
          <a:p>
            <a:pPr>
              <a:spcAft>
                <a:spcPts val="400"/>
              </a:spcAft>
              <a:defRPr sz="1050">
                <a:solidFill>
                  <a:srgbClr val="1C2024"/>
                </a:solidFill>
              </a:defRPr>
            </a:pPr>
            <a:r>
              <a:t>Operationally expensive for reviewers.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703320"/>
            <a:ext cx="333756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08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3813048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0855E"/>
                </a:solidFill>
              </a:defRPr>
            </a:pPr>
            <a:r>
              <a:t>How to explain XGBoost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4206240"/>
            <a:ext cx="3017520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1C2024"/>
                </a:solidFill>
              </a:defRPr>
            </a:pPr>
            <a:r>
              <a:t>Slightly lower recall than LR.</a:t>
            </a:r>
          </a:p>
          <a:p>
            <a:pPr>
              <a:spcAft>
                <a:spcPts val="400"/>
              </a:spcAft>
              <a:defRPr sz="1050">
                <a:solidFill>
                  <a:srgbClr val="1C2024"/>
                </a:solidFill>
              </a:defRPr>
            </a:pPr>
            <a:r>
              <a:t>Much better precision and F1.</a:t>
            </a:r>
          </a:p>
          <a:p>
            <a:pPr>
              <a:spcAft>
                <a:spcPts val="400"/>
              </a:spcAft>
              <a:defRPr sz="1050">
                <a:solidFill>
                  <a:srgbClr val="1C2024"/>
                </a:solidFill>
              </a:defRPr>
            </a:pPr>
            <a:r>
              <a:t>Best PR-AUC for rare fraud class.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703320"/>
            <a:ext cx="3337560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F7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3813048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F7F2A"/>
                </a:solidFill>
              </a:defRPr>
            </a:pPr>
            <a:r>
              <a:t>How to explain Autoencoder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4206240"/>
            <a:ext cx="3017520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1C2024"/>
                </a:solidFill>
              </a:defRPr>
            </a:pPr>
            <a:r>
              <a:t>Learns “normal,” not fraud labels.</a:t>
            </a:r>
          </a:p>
          <a:p>
            <a:pPr>
              <a:spcAft>
                <a:spcPts val="400"/>
              </a:spcAft>
              <a:defRPr sz="1050">
                <a:solidFill>
                  <a:srgbClr val="1C2024"/>
                </a:solidFill>
              </a:defRPr>
            </a:pPr>
            <a:r>
              <a:t>Can find unusual cases.</a:t>
            </a:r>
          </a:p>
          <a:p>
            <a:pPr>
              <a:spcAft>
                <a:spcPts val="400"/>
              </a:spcAft>
              <a:defRPr sz="1050">
                <a:solidFill>
                  <a:srgbClr val="1C2024"/>
                </a:solidFill>
              </a:defRPr>
            </a:pPr>
            <a:r>
              <a:t>Misses fraud that looks normal.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46520"/>
            <a:ext cx="11338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0"/>
                </a:solidFill>
              </a:defRPr>
            </a:pPr>
            <a:r>
              <a:t>Credit Card Fraud Detection Capstone | Parviz Ali &amp; Maryam Shabani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